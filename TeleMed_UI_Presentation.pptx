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70301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EC88A-FB54-445A-B483-B736ACEF2F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DA0005-6BDA-C106-FCC8-20D73A1474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CBC79D-4765-E0E6-F328-1AABD04EEA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845D61-79DC-CCCA-3E4F-5EF620860D76}"/>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2618120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B3E"/>
        </a:solidFill>
        <a:effectLst/>
      </p:bgPr>
    </p:bg>
    <p:spTree>
      <p:nvGrpSpPr>
        <p:cNvPr id="1" name=""/>
        <p:cNvGrpSpPr/>
        <p:nvPr/>
      </p:nvGrpSpPr>
      <p:grpSpPr>
        <a:xfrm>
          <a:off x="0" y="0"/>
          <a:ext cx="0" cy="0"/>
          <a:chOff x="0" y="0"/>
          <a:chExt cx="0" cy="0"/>
        </a:xfrm>
      </p:grpSpPr>
      <p:sp>
        <p:nvSpPr>
          <p:cNvPr id="5" name="Shape 3"/>
          <p:cNvSpPr/>
          <p:nvPr/>
        </p:nvSpPr>
        <p:spPr>
          <a:xfrm>
            <a:off x="548640" y="457200"/>
            <a:ext cx="3144960" cy="347472"/>
          </a:xfrm>
          <a:prstGeom prst="roundRect">
            <a:avLst>
              <a:gd name="adj" fmla="val 13158"/>
            </a:avLst>
          </a:prstGeom>
          <a:solidFill>
            <a:srgbClr val="0D7B8A"/>
          </a:solidFill>
          <a:ln w="12700">
            <a:solidFill>
              <a:srgbClr val="0D7B8A"/>
            </a:solidFill>
            <a:prstDash val="solid"/>
          </a:ln>
        </p:spPr>
      </p:sp>
      <p:sp>
        <p:nvSpPr>
          <p:cNvPr id="6" name="Text 4"/>
          <p:cNvSpPr/>
          <p:nvPr/>
        </p:nvSpPr>
        <p:spPr>
          <a:xfrm>
            <a:off x="548640" y="457200"/>
            <a:ext cx="3144960" cy="347472"/>
          </a:xfrm>
          <a:prstGeom prst="rect">
            <a:avLst/>
          </a:prstGeom>
          <a:noFill/>
          <a:ln/>
        </p:spPr>
        <p:txBody>
          <a:bodyPr wrap="square" lIns="0" tIns="0" rIns="0" bIns="0" rtlCol="0" anchor="ctr"/>
          <a:lstStyle/>
          <a:p>
            <a:pPr algn="ctr"/>
            <a:r>
              <a:rPr lang="en-IN" sz="1000" dirty="0">
                <a:solidFill>
                  <a:schemeClr val="bg1"/>
                </a:solidFill>
              </a:rPr>
              <a:t>FRONT END DEVELOPMENT FRAMEWORKS AND UI ENGINEERING - 25CS1201E</a:t>
            </a:r>
            <a:endParaRPr lang="en-US" sz="1000" dirty="0">
              <a:solidFill>
                <a:schemeClr val="bg1"/>
              </a:solidFill>
            </a:endParaRPr>
          </a:p>
        </p:txBody>
      </p:sp>
      <p:sp>
        <p:nvSpPr>
          <p:cNvPr id="7" name="Text 5"/>
          <p:cNvSpPr/>
          <p:nvPr/>
        </p:nvSpPr>
        <p:spPr>
          <a:xfrm>
            <a:off x="548640" y="1005840"/>
            <a:ext cx="7772400" cy="1188720"/>
          </a:xfrm>
          <a:prstGeom prst="rect">
            <a:avLst/>
          </a:prstGeom>
          <a:noFill/>
          <a:ln/>
        </p:spPr>
        <p:txBody>
          <a:bodyPr wrap="square" rtlCol="0" anchor="ctr"/>
          <a:lstStyle/>
          <a:p>
            <a:pPr marL="0" indent="0" algn="l">
              <a:buNone/>
            </a:pPr>
            <a:r>
              <a:rPr lang="en-US" sz="5200" b="1" dirty="0">
                <a:solidFill>
                  <a:srgbClr val="FFFFFF"/>
                </a:solidFill>
                <a:latin typeface="Cambria" pitchFamily="34" charset="0"/>
                <a:ea typeface="Cambria" pitchFamily="34" charset="-122"/>
                <a:cs typeface="Cambria" pitchFamily="34" charset="-120"/>
              </a:rPr>
              <a:t>TeleMed UI</a:t>
            </a:r>
            <a:endParaRPr lang="en-US" sz="5200" dirty="0"/>
          </a:p>
        </p:txBody>
      </p:sp>
      <p:sp>
        <p:nvSpPr>
          <p:cNvPr id="8" name="Text 6"/>
          <p:cNvSpPr/>
          <p:nvPr/>
        </p:nvSpPr>
        <p:spPr>
          <a:xfrm>
            <a:off x="548640" y="2194560"/>
            <a:ext cx="7772400" cy="457200"/>
          </a:xfrm>
          <a:prstGeom prst="rect">
            <a:avLst/>
          </a:prstGeom>
          <a:noFill/>
          <a:ln/>
        </p:spPr>
        <p:txBody>
          <a:bodyPr wrap="square" rtlCol="0" anchor="ctr"/>
          <a:lstStyle/>
          <a:p>
            <a:pPr marL="0" indent="0" algn="l">
              <a:buNone/>
            </a:pPr>
            <a:r>
              <a:rPr lang="en-US" sz="1800" dirty="0">
                <a:solidFill>
                  <a:srgbClr val="C8E8EC"/>
                </a:solidFill>
                <a:latin typeface="Calibri" pitchFamily="34" charset="0"/>
                <a:ea typeface="Calibri" pitchFamily="34" charset="-122"/>
                <a:cs typeface="Calibri" pitchFamily="34" charset="-120"/>
              </a:rPr>
              <a:t>A Telemedicine Platform — React Web Application</a:t>
            </a:r>
            <a:endParaRPr lang="en-US" sz="1800" dirty="0"/>
          </a:p>
        </p:txBody>
      </p:sp>
      <p:sp>
        <p:nvSpPr>
          <p:cNvPr id="9" name="Shape 7"/>
          <p:cNvSpPr/>
          <p:nvPr/>
        </p:nvSpPr>
        <p:spPr>
          <a:xfrm>
            <a:off x="548640" y="2743200"/>
            <a:ext cx="8046720" cy="18288"/>
          </a:xfrm>
          <a:prstGeom prst="rect">
            <a:avLst/>
          </a:prstGeom>
          <a:solidFill>
            <a:srgbClr val="0D7B8A">
              <a:alpha val="60000"/>
            </a:srgbClr>
          </a:solidFill>
          <a:ln w="12700">
            <a:solidFill>
              <a:srgbClr val="0D7B8A"/>
            </a:solidFill>
            <a:prstDash val="solid"/>
          </a:ln>
        </p:spPr>
      </p:sp>
      <p:sp>
        <p:nvSpPr>
          <p:cNvPr id="10" name="Text 8"/>
          <p:cNvSpPr/>
          <p:nvPr/>
        </p:nvSpPr>
        <p:spPr>
          <a:xfrm>
            <a:off x="548640" y="2926080"/>
            <a:ext cx="3657600" cy="320040"/>
          </a:xfrm>
          <a:prstGeom prst="rect">
            <a:avLst/>
          </a:prstGeom>
          <a:noFill/>
          <a:ln/>
        </p:spPr>
        <p:txBody>
          <a:bodyPr wrap="square" rtlCol="0" anchor="ctr"/>
          <a:lstStyle/>
          <a:p>
            <a:pPr marL="0" indent="0">
              <a:buNone/>
            </a:pPr>
            <a:r>
              <a:rPr lang="en-US" sz="1200" b="1" dirty="0">
                <a:solidFill>
                  <a:srgbClr val="5E7A84"/>
                </a:solidFill>
                <a:latin typeface="Calibri" pitchFamily="34" charset="0"/>
                <a:ea typeface="Calibri" pitchFamily="34" charset="-122"/>
                <a:cs typeface="Calibri" pitchFamily="34" charset="-120"/>
              </a:rPr>
              <a:t>Team Members</a:t>
            </a:r>
            <a:endParaRPr lang="en-US" sz="1200" dirty="0"/>
          </a:p>
        </p:txBody>
      </p:sp>
      <p:sp>
        <p:nvSpPr>
          <p:cNvPr id="11" name="Shape 9"/>
          <p:cNvSpPr/>
          <p:nvPr/>
        </p:nvSpPr>
        <p:spPr>
          <a:xfrm>
            <a:off x="548640" y="3291840"/>
            <a:ext cx="3657600" cy="502920"/>
          </a:xfrm>
          <a:prstGeom prst="roundRect">
            <a:avLst>
              <a:gd name="adj" fmla="val 12727"/>
            </a:avLst>
          </a:prstGeom>
          <a:solidFill>
            <a:srgbClr val="122030"/>
          </a:solidFill>
          <a:ln w="12700">
            <a:solidFill>
              <a:srgbClr val="0D7B8A"/>
            </a:solidFill>
            <a:prstDash val="solid"/>
          </a:ln>
        </p:spPr>
      </p:sp>
      <p:sp>
        <p:nvSpPr>
          <p:cNvPr id="12" name="Text 10"/>
          <p:cNvSpPr/>
          <p:nvPr/>
        </p:nvSpPr>
        <p:spPr>
          <a:xfrm>
            <a:off x="548640" y="3291840"/>
            <a:ext cx="3657600" cy="50292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2520040005 — B. Sri Srujana</a:t>
            </a:r>
            <a:endParaRPr lang="en-US" sz="1400" dirty="0"/>
          </a:p>
        </p:txBody>
      </p:sp>
      <p:sp>
        <p:nvSpPr>
          <p:cNvPr id="13" name="Shape 11"/>
          <p:cNvSpPr/>
          <p:nvPr/>
        </p:nvSpPr>
        <p:spPr>
          <a:xfrm>
            <a:off x="548640" y="3886200"/>
            <a:ext cx="3657600" cy="502920"/>
          </a:xfrm>
          <a:prstGeom prst="roundRect">
            <a:avLst>
              <a:gd name="adj" fmla="val 12727"/>
            </a:avLst>
          </a:prstGeom>
          <a:solidFill>
            <a:srgbClr val="122030"/>
          </a:solidFill>
          <a:ln w="12700">
            <a:solidFill>
              <a:srgbClr val="0D7B8A"/>
            </a:solidFill>
            <a:prstDash val="solid"/>
          </a:ln>
        </p:spPr>
      </p:sp>
      <p:sp>
        <p:nvSpPr>
          <p:cNvPr id="14" name="Text 12"/>
          <p:cNvSpPr/>
          <p:nvPr/>
        </p:nvSpPr>
        <p:spPr>
          <a:xfrm>
            <a:off x="548640" y="3886200"/>
            <a:ext cx="3657600" cy="50292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2520040020 — M. Gnaneshwari</a:t>
            </a:r>
            <a:endParaRPr lang="en-US" sz="1400" dirty="0"/>
          </a:p>
        </p:txBody>
      </p:sp>
      <p:sp>
        <p:nvSpPr>
          <p:cNvPr id="15" name="Shape 13"/>
          <p:cNvSpPr/>
          <p:nvPr/>
        </p:nvSpPr>
        <p:spPr>
          <a:xfrm>
            <a:off x="4846320" y="3291840"/>
            <a:ext cx="1737360" cy="411480"/>
          </a:xfrm>
          <a:prstGeom prst="roundRect">
            <a:avLst>
              <a:gd name="adj" fmla="val 13333"/>
            </a:avLst>
          </a:prstGeom>
          <a:solidFill>
            <a:srgbClr val="0D7B8A">
              <a:alpha val="70000"/>
            </a:srgbClr>
          </a:solidFill>
          <a:ln w="12700">
            <a:solidFill>
              <a:srgbClr val="0D7B8A"/>
            </a:solidFill>
            <a:prstDash val="solid"/>
          </a:ln>
        </p:spPr>
      </p:sp>
      <p:sp>
        <p:nvSpPr>
          <p:cNvPr id="16" name="Text 14"/>
          <p:cNvSpPr/>
          <p:nvPr/>
        </p:nvSpPr>
        <p:spPr>
          <a:xfrm>
            <a:off x="4846320" y="3291840"/>
            <a:ext cx="1737360" cy="411480"/>
          </a:xfrm>
          <a:prstGeom prst="rect">
            <a:avLst/>
          </a:prstGeom>
          <a:noFill/>
          <a:ln/>
        </p:spPr>
        <p:txBody>
          <a:bodyPr wrap="square" lIns="0" tIns="0" rIns="0" bIns="0" rtlCol="0" anchor="ctr"/>
          <a:lstStyle/>
          <a:p>
            <a:pPr marL="0" indent="0" algn="ctr">
              <a:buNone/>
            </a:pPr>
            <a:r>
              <a:rPr lang="en-US" sz="1100" b="1" dirty="0">
                <a:solidFill>
                  <a:srgbClr val="FFFFFF"/>
                </a:solidFill>
              </a:rPr>
              <a:t>React</a:t>
            </a:r>
            <a:endParaRPr lang="en-US" sz="1100" dirty="0"/>
          </a:p>
        </p:txBody>
      </p:sp>
      <p:sp>
        <p:nvSpPr>
          <p:cNvPr id="17" name="Shape 15"/>
          <p:cNvSpPr/>
          <p:nvPr/>
        </p:nvSpPr>
        <p:spPr>
          <a:xfrm>
            <a:off x="6858000" y="3291840"/>
            <a:ext cx="1737360" cy="411480"/>
          </a:xfrm>
          <a:prstGeom prst="roundRect">
            <a:avLst>
              <a:gd name="adj" fmla="val 13333"/>
            </a:avLst>
          </a:prstGeom>
          <a:solidFill>
            <a:srgbClr val="0D7B8A">
              <a:alpha val="70000"/>
            </a:srgbClr>
          </a:solidFill>
          <a:ln w="12700">
            <a:solidFill>
              <a:srgbClr val="0D7B8A"/>
            </a:solidFill>
            <a:prstDash val="solid"/>
          </a:ln>
        </p:spPr>
      </p:sp>
      <p:sp>
        <p:nvSpPr>
          <p:cNvPr id="18" name="Text 16"/>
          <p:cNvSpPr/>
          <p:nvPr/>
        </p:nvSpPr>
        <p:spPr>
          <a:xfrm>
            <a:off x="6858000" y="3291840"/>
            <a:ext cx="1737360" cy="411480"/>
          </a:xfrm>
          <a:prstGeom prst="rect">
            <a:avLst/>
          </a:prstGeom>
          <a:noFill/>
          <a:ln/>
        </p:spPr>
        <p:txBody>
          <a:bodyPr wrap="square" lIns="0" tIns="0" rIns="0" bIns="0" rtlCol="0" anchor="ctr"/>
          <a:lstStyle/>
          <a:p>
            <a:pPr marL="0" indent="0" algn="ctr">
              <a:buNone/>
            </a:pPr>
            <a:r>
              <a:rPr lang="en-US" sz="1100" b="1" dirty="0">
                <a:solidFill>
                  <a:srgbClr val="FFFFFF"/>
                </a:solidFill>
              </a:rPr>
              <a:t>Vite</a:t>
            </a:r>
            <a:endParaRPr lang="en-US" sz="1100" dirty="0"/>
          </a:p>
        </p:txBody>
      </p:sp>
      <p:sp>
        <p:nvSpPr>
          <p:cNvPr id="19" name="Shape 17"/>
          <p:cNvSpPr/>
          <p:nvPr/>
        </p:nvSpPr>
        <p:spPr>
          <a:xfrm>
            <a:off x="4846320" y="3886200"/>
            <a:ext cx="1737360" cy="411480"/>
          </a:xfrm>
          <a:prstGeom prst="roundRect">
            <a:avLst>
              <a:gd name="adj" fmla="val 13333"/>
            </a:avLst>
          </a:prstGeom>
          <a:solidFill>
            <a:srgbClr val="0D7B8A">
              <a:alpha val="70000"/>
            </a:srgbClr>
          </a:solidFill>
          <a:ln w="12700">
            <a:solidFill>
              <a:srgbClr val="0D7B8A"/>
            </a:solidFill>
            <a:prstDash val="solid"/>
          </a:ln>
        </p:spPr>
      </p:sp>
      <p:sp>
        <p:nvSpPr>
          <p:cNvPr id="20" name="Text 18"/>
          <p:cNvSpPr/>
          <p:nvPr/>
        </p:nvSpPr>
        <p:spPr>
          <a:xfrm>
            <a:off x="4846320" y="3886200"/>
            <a:ext cx="1737360" cy="411480"/>
          </a:xfrm>
          <a:prstGeom prst="rect">
            <a:avLst/>
          </a:prstGeom>
          <a:noFill/>
          <a:ln/>
        </p:spPr>
        <p:txBody>
          <a:bodyPr wrap="square" lIns="0" tIns="0" rIns="0" bIns="0" rtlCol="0" anchor="ctr"/>
          <a:lstStyle/>
          <a:p>
            <a:pPr marL="0" indent="0" algn="ctr">
              <a:buNone/>
            </a:pPr>
            <a:r>
              <a:rPr lang="en-US" sz="1100" b="1" dirty="0">
                <a:solidFill>
                  <a:srgbClr val="FFFFFF"/>
                </a:solidFill>
              </a:rPr>
              <a:t>React Router</a:t>
            </a:r>
            <a:endParaRPr lang="en-US" sz="1100" dirty="0"/>
          </a:p>
        </p:txBody>
      </p:sp>
      <p:sp>
        <p:nvSpPr>
          <p:cNvPr id="21" name="Shape 19"/>
          <p:cNvSpPr/>
          <p:nvPr/>
        </p:nvSpPr>
        <p:spPr>
          <a:xfrm>
            <a:off x="6858000" y="3886200"/>
            <a:ext cx="1737360" cy="411480"/>
          </a:xfrm>
          <a:prstGeom prst="roundRect">
            <a:avLst>
              <a:gd name="adj" fmla="val 13333"/>
            </a:avLst>
          </a:prstGeom>
          <a:solidFill>
            <a:srgbClr val="0D7B8A">
              <a:alpha val="70000"/>
            </a:srgbClr>
          </a:solidFill>
          <a:ln w="12700">
            <a:solidFill>
              <a:srgbClr val="0D7B8A"/>
            </a:solidFill>
            <a:prstDash val="solid"/>
          </a:ln>
        </p:spPr>
      </p:sp>
      <p:sp>
        <p:nvSpPr>
          <p:cNvPr id="22" name="Text 20"/>
          <p:cNvSpPr/>
          <p:nvPr/>
        </p:nvSpPr>
        <p:spPr>
          <a:xfrm>
            <a:off x="6858000" y="3886200"/>
            <a:ext cx="1737360" cy="411480"/>
          </a:xfrm>
          <a:prstGeom prst="rect">
            <a:avLst/>
          </a:prstGeom>
          <a:noFill/>
          <a:ln/>
        </p:spPr>
        <p:txBody>
          <a:bodyPr wrap="square" lIns="0" tIns="0" rIns="0" bIns="0" rtlCol="0" anchor="ctr"/>
          <a:lstStyle/>
          <a:p>
            <a:pPr marL="0" indent="0" algn="ctr">
              <a:buNone/>
            </a:pPr>
            <a:r>
              <a:rPr lang="en-US" sz="1100" b="1" dirty="0">
                <a:solidFill>
                  <a:srgbClr val="FFFFFF"/>
                </a:solidFill>
              </a:rPr>
              <a:t>CSS </a:t>
            </a:r>
            <a:endParaRPr lang="en-US" sz="1100" dirty="0"/>
          </a:p>
        </p:txBody>
      </p:sp>
      <p:sp>
        <p:nvSpPr>
          <p:cNvPr id="23" name="Text 21"/>
          <p:cNvSpPr/>
          <p:nvPr/>
        </p:nvSpPr>
        <p:spPr>
          <a:xfrm>
            <a:off x="4846320" y="2926080"/>
            <a:ext cx="3840480" cy="320040"/>
          </a:xfrm>
          <a:prstGeom prst="rect">
            <a:avLst/>
          </a:prstGeom>
          <a:noFill/>
          <a:ln/>
        </p:spPr>
        <p:txBody>
          <a:bodyPr wrap="square" rtlCol="0" anchor="ctr"/>
          <a:lstStyle/>
          <a:p>
            <a:pPr marL="0" indent="0">
              <a:buNone/>
            </a:pPr>
            <a:r>
              <a:rPr lang="en-US" sz="1200" b="1" dirty="0">
                <a:solidFill>
                  <a:srgbClr val="5E7A84"/>
                </a:solidFill>
                <a:latin typeface="Calibri" pitchFamily="34" charset="0"/>
                <a:ea typeface="Calibri" pitchFamily="34" charset="-122"/>
                <a:cs typeface="Calibri" pitchFamily="34" charset="-120"/>
              </a:rPr>
              <a:t>Tech Stack</a:t>
            </a:r>
            <a:endParaRPr lang="en-US" sz="1200" dirty="0"/>
          </a:p>
        </p:txBody>
      </p:sp>
      <p:pic>
        <p:nvPicPr>
          <p:cNvPr id="24" name="Picture 23">
            <a:extLst>
              <a:ext uri="{FF2B5EF4-FFF2-40B4-BE49-F238E27FC236}">
                <a16:creationId xmlns:a16="http://schemas.microsoft.com/office/drawing/2014/main" id="{5F4364E6-DCDF-4971-1D8D-AB13EF63055B}"/>
              </a:ext>
            </a:extLst>
          </p:cNvPr>
          <p:cNvPicPr>
            <a:picLocks noChangeAspect="1"/>
          </p:cNvPicPr>
          <p:nvPr/>
        </p:nvPicPr>
        <p:blipFill>
          <a:blip r:embed="rId3"/>
          <a:stretch>
            <a:fillRect/>
          </a:stretch>
        </p:blipFill>
        <p:spPr>
          <a:xfrm>
            <a:off x="7603200" y="90334"/>
            <a:ext cx="1331280" cy="93458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9FA"/>
        </a:solidFill>
        <a:effectLst/>
      </p:bgPr>
    </p:bg>
    <p:spTree>
      <p:nvGrpSpPr>
        <p:cNvPr id="1" name=""/>
        <p:cNvGrpSpPr/>
        <p:nvPr/>
      </p:nvGrpSpPr>
      <p:grpSpPr>
        <a:xfrm>
          <a:off x="0" y="0"/>
          <a:ext cx="0" cy="0"/>
          <a:chOff x="0" y="0"/>
          <a:chExt cx="0" cy="0"/>
        </a:xfrm>
      </p:grpSpPr>
      <p:sp>
        <p:nvSpPr>
          <p:cNvPr id="2" name="Shape 0"/>
          <p:cNvSpPr/>
          <p:nvPr/>
        </p:nvSpPr>
        <p:spPr>
          <a:xfrm>
            <a:off x="365760" y="274320"/>
            <a:ext cx="8412480" cy="914400"/>
          </a:xfrm>
          <a:prstGeom prst="roundRect">
            <a:avLst>
              <a:gd name="adj" fmla="val 10000"/>
            </a:avLst>
          </a:prstGeom>
          <a:solidFill>
            <a:srgbClr val="0D7B8A"/>
          </a:solidFill>
          <a:ln w="12700">
            <a:solidFill>
              <a:srgbClr val="0D7B8A"/>
            </a:solidFill>
            <a:prstDash val="solid"/>
          </a:ln>
          <a:effectLst>
            <a:outerShdw blurRad="101600" dist="38100" dir="2700000" algn="bl" rotWithShape="0">
              <a:srgbClr val="000000">
                <a:alpha val="12000"/>
              </a:srgbClr>
            </a:outerShdw>
          </a:effectLst>
        </p:spPr>
      </p:sp>
      <p:sp>
        <p:nvSpPr>
          <p:cNvPr id="3" name="Text 1"/>
          <p:cNvSpPr/>
          <p:nvPr/>
        </p:nvSpPr>
        <p:spPr>
          <a:xfrm>
            <a:off x="365760" y="274320"/>
            <a:ext cx="8412480" cy="914400"/>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Introduction</a:t>
            </a:r>
            <a:endParaRPr lang="en-US" sz="3000" dirty="0"/>
          </a:p>
        </p:txBody>
      </p:sp>
      <p:sp>
        <p:nvSpPr>
          <p:cNvPr id="4" name="Shape 2"/>
          <p:cNvSpPr/>
          <p:nvPr/>
        </p:nvSpPr>
        <p:spPr>
          <a:xfrm>
            <a:off x="365760" y="1371600"/>
            <a:ext cx="8412480" cy="1188720"/>
          </a:xfrm>
          <a:prstGeom prst="roundRect">
            <a:avLst>
              <a:gd name="adj" fmla="val 7692"/>
            </a:avLst>
          </a:prstGeom>
          <a:solidFill>
            <a:srgbClr val="FFFFFF"/>
          </a:solidFill>
          <a:ln w="12700">
            <a:solidFill>
              <a:srgbClr val="C8E8EC"/>
            </a:solidFill>
            <a:prstDash val="solid"/>
          </a:ln>
          <a:effectLst>
            <a:outerShdw blurRad="101600" dist="38100" dir="2700000" algn="bl" rotWithShape="0">
              <a:srgbClr val="000000">
                <a:alpha val="12000"/>
              </a:srgbClr>
            </a:outerShdw>
          </a:effectLst>
        </p:spPr>
      </p:sp>
      <p:sp>
        <p:nvSpPr>
          <p:cNvPr id="5" name="Text 3"/>
          <p:cNvSpPr/>
          <p:nvPr/>
        </p:nvSpPr>
        <p:spPr>
          <a:xfrm>
            <a:off x="502920" y="1463040"/>
            <a:ext cx="8138160" cy="1005840"/>
          </a:xfrm>
          <a:prstGeom prst="rect">
            <a:avLst/>
          </a:prstGeom>
          <a:noFill/>
          <a:ln/>
        </p:spPr>
        <p:txBody>
          <a:bodyPr wrap="square" rtlCol="0" anchor="t"/>
          <a:lstStyle/>
          <a:p>
            <a:pPr marL="0" indent="0" algn="l">
              <a:buNone/>
            </a:pPr>
            <a:r>
              <a:rPr lang="en-US" sz="1300" dirty="0">
                <a:solidFill>
                  <a:srgbClr val="1A2E38"/>
                </a:solidFill>
                <a:latin typeface="Calibri" pitchFamily="34" charset="0"/>
                <a:ea typeface="Calibri" pitchFamily="34" charset="-122"/>
                <a:cs typeface="Calibri" pitchFamily="34" charset="-120"/>
              </a:rPr>
              <a:t>TeleMed UI is a front-end web application that simulates a real-world telemedicine platform. Built entirely with React and Vite, it lets patients book appointments, connect with doctors via a simulated video interface, and manage their health records — all from a browser.</a:t>
            </a:r>
            <a:endParaRPr lang="en-US" sz="1300" dirty="0"/>
          </a:p>
        </p:txBody>
      </p:sp>
      <p:sp>
        <p:nvSpPr>
          <p:cNvPr id="6" name="Shape 4"/>
          <p:cNvSpPr/>
          <p:nvPr/>
        </p:nvSpPr>
        <p:spPr>
          <a:xfrm>
            <a:off x="365760" y="2834640"/>
            <a:ext cx="4023360" cy="914400"/>
          </a:xfrm>
          <a:prstGeom prst="roundRect">
            <a:avLst>
              <a:gd name="adj" fmla="val 8000"/>
            </a:avLst>
          </a:prstGeom>
          <a:solidFill>
            <a:srgbClr val="FFFFFF"/>
          </a:solidFill>
          <a:ln w="12700">
            <a:solidFill>
              <a:srgbClr val="C8E8EC"/>
            </a:solidFill>
            <a:prstDash val="solid"/>
          </a:ln>
          <a:effectLst>
            <a:outerShdw blurRad="101600" dist="38100" dir="2700000" algn="bl" rotWithShape="0">
              <a:srgbClr val="000000">
                <a:alpha val="12000"/>
              </a:srgbClr>
            </a:outerShdw>
          </a:effectLst>
        </p:spPr>
      </p:sp>
      <p:sp>
        <p:nvSpPr>
          <p:cNvPr id="7" name="Text 5"/>
          <p:cNvSpPr/>
          <p:nvPr/>
        </p:nvSpPr>
        <p:spPr>
          <a:xfrm>
            <a:off x="502920" y="2889504"/>
            <a:ext cx="3749040" cy="292608"/>
          </a:xfrm>
          <a:prstGeom prst="rect">
            <a:avLst/>
          </a:prstGeom>
          <a:noFill/>
          <a:ln/>
        </p:spPr>
        <p:txBody>
          <a:bodyPr wrap="square" rtlCol="0" anchor="ctr"/>
          <a:lstStyle/>
          <a:p>
            <a:pPr marL="0" indent="0">
              <a:buNone/>
            </a:pPr>
            <a:r>
              <a:rPr lang="en-US" sz="1300" b="1" dirty="0">
                <a:solidFill>
                  <a:srgbClr val="0D7B8A"/>
                </a:solidFill>
                <a:latin typeface="Calibri" pitchFamily="34" charset="0"/>
                <a:ea typeface="Calibri" pitchFamily="34" charset="-122"/>
                <a:cs typeface="Calibri" pitchFamily="34" charset="-120"/>
              </a:rPr>
              <a:t>🏠  Landing Page</a:t>
            </a:r>
            <a:endParaRPr lang="en-US" sz="1300" dirty="0"/>
          </a:p>
        </p:txBody>
      </p:sp>
      <p:sp>
        <p:nvSpPr>
          <p:cNvPr id="8" name="Text 6"/>
          <p:cNvSpPr/>
          <p:nvPr/>
        </p:nvSpPr>
        <p:spPr>
          <a:xfrm>
            <a:off x="502920" y="3200400"/>
            <a:ext cx="3749040" cy="502920"/>
          </a:xfrm>
          <a:prstGeom prst="rect">
            <a:avLst/>
          </a:prstGeom>
          <a:noFill/>
          <a:ln/>
        </p:spPr>
        <p:txBody>
          <a:bodyPr wrap="square" rtlCol="0" anchor="ctr"/>
          <a:lstStyle/>
          <a:p>
            <a:pPr marL="0" indent="0">
              <a:buNone/>
            </a:pPr>
            <a:r>
              <a:rPr lang="en-US" sz="1100" dirty="0">
                <a:solidFill>
                  <a:srgbClr val="5E7A84"/>
                </a:solidFill>
                <a:latin typeface="Calibri" pitchFamily="34" charset="0"/>
                <a:ea typeface="Calibri" pitchFamily="34" charset="-122"/>
                <a:cs typeface="Calibri" pitchFamily="34" charset="-120"/>
              </a:rPr>
              <a:t>Hero section, About, and Services — responsive layout with Navbar</a:t>
            </a:r>
            <a:endParaRPr lang="en-US" sz="1100" dirty="0"/>
          </a:p>
        </p:txBody>
      </p:sp>
      <p:sp>
        <p:nvSpPr>
          <p:cNvPr id="9" name="Shape 7"/>
          <p:cNvSpPr/>
          <p:nvPr/>
        </p:nvSpPr>
        <p:spPr>
          <a:xfrm>
            <a:off x="4617720" y="2834640"/>
            <a:ext cx="4023360" cy="914400"/>
          </a:xfrm>
          <a:prstGeom prst="roundRect">
            <a:avLst>
              <a:gd name="adj" fmla="val 8000"/>
            </a:avLst>
          </a:prstGeom>
          <a:solidFill>
            <a:srgbClr val="FFFFFF"/>
          </a:solidFill>
          <a:ln w="12700">
            <a:solidFill>
              <a:srgbClr val="C8E8EC"/>
            </a:solidFill>
            <a:prstDash val="solid"/>
          </a:ln>
          <a:effectLst>
            <a:outerShdw blurRad="101600" dist="38100" dir="2700000" algn="bl" rotWithShape="0">
              <a:srgbClr val="000000">
                <a:alpha val="12000"/>
              </a:srgbClr>
            </a:outerShdw>
          </a:effectLst>
        </p:spPr>
      </p:sp>
      <p:sp>
        <p:nvSpPr>
          <p:cNvPr id="10" name="Text 8"/>
          <p:cNvSpPr/>
          <p:nvPr/>
        </p:nvSpPr>
        <p:spPr>
          <a:xfrm>
            <a:off x="4754880" y="2889504"/>
            <a:ext cx="3749040" cy="292608"/>
          </a:xfrm>
          <a:prstGeom prst="rect">
            <a:avLst/>
          </a:prstGeom>
          <a:noFill/>
          <a:ln/>
        </p:spPr>
        <p:txBody>
          <a:bodyPr wrap="square" rtlCol="0" anchor="ctr"/>
          <a:lstStyle/>
          <a:p>
            <a:pPr marL="0" indent="0">
              <a:buNone/>
            </a:pPr>
            <a:r>
              <a:rPr lang="en-US" sz="1300" b="1" dirty="0">
                <a:solidFill>
                  <a:srgbClr val="0D7B8A"/>
                </a:solidFill>
                <a:latin typeface="Calibri" pitchFamily="34" charset="0"/>
                <a:ea typeface="Calibri" pitchFamily="34" charset="-122"/>
                <a:cs typeface="Calibri" pitchFamily="34" charset="-120"/>
              </a:rPr>
              <a:t>🔐  Auth Flow</a:t>
            </a:r>
            <a:endParaRPr lang="en-US" sz="1300" dirty="0"/>
          </a:p>
        </p:txBody>
      </p:sp>
      <p:sp>
        <p:nvSpPr>
          <p:cNvPr id="11" name="Text 9"/>
          <p:cNvSpPr/>
          <p:nvPr/>
        </p:nvSpPr>
        <p:spPr>
          <a:xfrm>
            <a:off x="4754880" y="3200400"/>
            <a:ext cx="3749040" cy="502920"/>
          </a:xfrm>
          <a:prstGeom prst="rect">
            <a:avLst/>
          </a:prstGeom>
          <a:noFill/>
          <a:ln/>
        </p:spPr>
        <p:txBody>
          <a:bodyPr wrap="square" rtlCol="0" anchor="ctr"/>
          <a:lstStyle/>
          <a:p>
            <a:pPr marL="0" indent="0">
              <a:buNone/>
            </a:pPr>
            <a:r>
              <a:rPr lang="en-US" sz="1100" dirty="0">
                <a:solidFill>
                  <a:srgbClr val="5E7A84"/>
                </a:solidFill>
                <a:latin typeface="Calibri" pitchFamily="34" charset="0"/>
                <a:ea typeface="Calibri" pitchFamily="34" charset="-122"/>
                <a:cs typeface="Calibri" pitchFamily="34" charset="-120"/>
              </a:rPr>
              <a:t>Login &amp; Signup pages with protected routing via React Router</a:t>
            </a:r>
            <a:endParaRPr lang="en-US" sz="1100" dirty="0"/>
          </a:p>
        </p:txBody>
      </p:sp>
      <p:sp>
        <p:nvSpPr>
          <p:cNvPr id="12" name="Shape 10"/>
          <p:cNvSpPr/>
          <p:nvPr/>
        </p:nvSpPr>
        <p:spPr>
          <a:xfrm>
            <a:off x="365760" y="3931920"/>
            <a:ext cx="4023360" cy="914400"/>
          </a:xfrm>
          <a:prstGeom prst="roundRect">
            <a:avLst>
              <a:gd name="adj" fmla="val 8000"/>
            </a:avLst>
          </a:prstGeom>
          <a:solidFill>
            <a:srgbClr val="FFFFFF"/>
          </a:solidFill>
          <a:ln w="12700">
            <a:solidFill>
              <a:srgbClr val="C8E8EC"/>
            </a:solidFill>
            <a:prstDash val="solid"/>
          </a:ln>
          <a:effectLst>
            <a:outerShdw blurRad="101600" dist="38100" dir="2700000" algn="bl" rotWithShape="0">
              <a:srgbClr val="000000">
                <a:alpha val="12000"/>
              </a:srgbClr>
            </a:outerShdw>
          </a:effectLst>
        </p:spPr>
      </p:sp>
      <p:sp>
        <p:nvSpPr>
          <p:cNvPr id="13" name="Text 11"/>
          <p:cNvSpPr/>
          <p:nvPr/>
        </p:nvSpPr>
        <p:spPr>
          <a:xfrm>
            <a:off x="502920" y="3986784"/>
            <a:ext cx="3749040" cy="292608"/>
          </a:xfrm>
          <a:prstGeom prst="rect">
            <a:avLst/>
          </a:prstGeom>
          <a:noFill/>
          <a:ln/>
        </p:spPr>
        <p:txBody>
          <a:bodyPr wrap="square" rtlCol="0" anchor="ctr"/>
          <a:lstStyle/>
          <a:p>
            <a:pPr marL="0" indent="0">
              <a:buNone/>
            </a:pPr>
            <a:r>
              <a:rPr lang="en-US" sz="1300" b="1" dirty="0">
                <a:solidFill>
                  <a:srgbClr val="0D7B8A"/>
                </a:solidFill>
                <a:latin typeface="Calibri" pitchFamily="34" charset="0"/>
                <a:ea typeface="Calibri" pitchFamily="34" charset="-122"/>
                <a:cs typeface="Calibri" pitchFamily="34" charset="-120"/>
              </a:rPr>
              <a:t>📋  Patient Dashboard</a:t>
            </a:r>
            <a:endParaRPr lang="en-US" sz="1300" dirty="0"/>
          </a:p>
        </p:txBody>
      </p:sp>
      <p:sp>
        <p:nvSpPr>
          <p:cNvPr id="14" name="Text 12"/>
          <p:cNvSpPr/>
          <p:nvPr/>
        </p:nvSpPr>
        <p:spPr>
          <a:xfrm>
            <a:off x="502920" y="4297680"/>
            <a:ext cx="3749040" cy="502920"/>
          </a:xfrm>
          <a:prstGeom prst="rect">
            <a:avLst/>
          </a:prstGeom>
          <a:noFill/>
          <a:ln/>
        </p:spPr>
        <p:txBody>
          <a:bodyPr wrap="square" rtlCol="0" anchor="ctr"/>
          <a:lstStyle/>
          <a:p>
            <a:pPr marL="0" indent="0">
              <a:buNone/>
            </a:pPr>
            <a:r>
              <a:rPr lang="en-US" sz="1100" dirty="0">
                <a:solidFill>
                  <a:srgbClr val="5E7A84"/>
                </a:solidFill>
                <a:latin typeface="Calibri" pitchFamily="34" charset="0"/>
                <a:ea typeface="Calibri" pitchFamily="34" charset="-122"/>
                <a:cs typeface="Calibri" pitchFamily="34" charset="-120"/>
              </a:rPr>
              <a:t>Book appointments, view history, and receive notifications</a:t>
            </a:r>
            <a:endParaRPr lang="en-US" sz="1100" dirty="0"/>
          </a:p>
        </p:txBody>
      </p:sp>
      <p:sp>
        <p:nvSpPr>
          <p:cNvPr id="15" name="Shape 13"/>
          <p:cNvSpPr/>
          <p:nvPr/>
        </p:nvSpPr>
        <p:spPr>
          <a:xfrm>
            <a:off x="4617720" y="3931920"/>
            <a:ext cx="4023360" cy="914400"/>
          </a:xfrm>
          <a:prstGeom prst="roundRect">
            <a:avLst>
              <a:gd name="adj" fmla="val 8000"/>
            </a:avLst>
          </a:prstGeom>
          <a:solidFill>
            <a:srgbClr val="FFFFFF"/>
          </a:solidFill>
          <a:ln w="12700">
            <a:solidFill>
              <a:srgbClr val="C8E8EC"/>
            </a:solidFill>
            <a:prstDash val="solid"/>
          </a:ln>
          <a:effectLst>
            <a:outerShdw blurRad="101600" dist="38100" dir="2700000" algn="bl" rotWithShape="0">
              <a:srgbClr val="000000">
                <a:alpha val="12000"/>
              </a:srgbClr>
            </a:outerShdw>
          </a:effectLst>
        </p:spPr>
      </p:sp>
      <p:sp>
        <p:nvSpPr>
          <p:cNvPr id="16" name="Text 14"/>
          <p:cNvSpPr/>
          <p:nvPr/>
        </p:nvSpPr>
        <p:spPr>
          <a:xfrm>
            <a:off x="4754880" y="3986784"/>
            <a:ext cx="3749040" cy="292608"/>
          </a:xfrm>
          <a:prstGeom prst="rect">
            <a:avLst/>
          </a:prstGeom>
          <a:noFill/>
          <a:ln/>
        </p:spPr>
        <p:txBody>
          <a:bodyPr wrap="square" rtlCol="0" anchor="ctr"/>
          <a:lstStyle/>
          <a:p>
            <a:pPr marL="0" indent="0">
              <a:buNone/>
            </a:pPr>
            <a:r>
              <a:rPr lang="en-US" sz="1300" b="1" dirty="0">
                <a:solidFill>
                  <a:srgbClr val="0D7B8A"/>
                </a:solidFill>
                <a:latin typeface="Calibri" pitchFamily="34" charset="0"/>
                <a:ea typeface="Calibri" pitchFamily="34" charset="-122"/>
                <a:cs typeface="Calibri" pitchFamily="34" charset="-120"/>
              </a:rPr>
              <a:t>📹  Video Interface</a:t>
            </a:r>
            <a:endParaRPr lang="en-US" sz="1300" dirty="0"/>
          </a:p>
        </p:txBody>
      </p:sp>
      <p:sp>
        <p:nvSpPr>
          <p:cNvPr id="17" name="Text 15"/>
          <p:cNvSpPr/>
          <p:nvPr/>
        </p:nvSpPr>
        <p:spPr>
          <a:xfrm>
            <a:off x="4754880" y="4297680"/>
            <a:ext cx="3749040" cy="502920"/>
          </a:xfrm>
          <a:prstGeom prst="rect">
            <a:avLst/>
          </a:prstGeom>
          <a:noFill/>
          <a:ln/>
        </p:spPr>
        <p:txBody>
          <a:bodyPr wrap="square" rtlCol="0" anchor="ctr"/>
          <a:lstStyle/>
          <a:p>
            <a:pPr marL="0" indent="0">
              <a:buNone/>
            </a:pPr>
            <a:r>
              <a:rPr lang="en-US" sz="1100" dirty="0">
                <a:solidFill>
                  <a:srgbClr val="5E7A84"/>
                </a:solidFill>
                <a:latin typeface="Calibri" pitchFamily="34" charset="0"/>
                <a:ea typeface="Calibri" pitchFamily="34" charset="-122"/>
                <a:cs typeface="Calibri" pitchFamily="34" charset="-120"/>
              </a:rPr>
              <a:t>Pre-call check, live video simulation, and post-call summary</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9FA"/>
        </a:solidFill>
        <a:effectLst/>
      </p:bgPr>
    </p:bg>
    <p:spTree>
      <p:nvGrpSpPr>
        <p:cNvPr id="1" name=""/>
        <p:cNvGrpSpPr/>
        <p:nvPr/>
      </p:nvGrpSpPr>
      <p:grpSpPr>
        <a:xfrm>
          <a:off x="0" y="0"/>
          <a:ext cx="0" cy="0"/>
          <a:chOff x="0" y="0"/>
          <a:chExt cx="0" cy="0"/>
        </a:xfrm>
      </p:grpSpPr>
      <p:sp>
        <p:nvSpPr>
          <p:cNvPr id="2" name="Shape 0"/>
          <p:cNvSpPr/>
          <p:nvPr/>
        </p:nvSpPr>
        <p:spPr>
          <a:xfrm>
            <a:off x="365760" y="274320"/>
            <a:ext cx="8412480" cy="914400"/>
          </a:xfrm>
          <a:prstGeom prst="roundRect">
            <a:avLst>
              <a:gd name="adj" fmla="val 10000"/>
            </a:avLst>
          </a:prstGeom>
          <a:solidFill>
            <a:srgbClr val="0D2B3E"/>
          </a:solidFill>
          <a:ln w="12700">
            <a:solidFill>
              <a:srgbClr val="0D2B3E"/>
            </a:solidFill>
            <a:prstDash val="solid"/>
          </a:ln>
          <a:effectLst>
            <a:outerShdw blurRad="101600" dist="38100" dir="2700000" algn="bl" rotWithShape="0">
              <a:srgbClr val="000000">
                <a:alpha val="12000"/>
              </a:srgbClr>
            </a:outerShdw>
          </a:effectLst>
        </p:spPr>
      </p:sp>
      <p:sp>
        <p:nvSpPr>
          <p:cNvPr id="3" name="Text 1"/>
          <p:cNvSpPr/>
          <p:nvPr/>
        </p:nvSpPr>
        <p:spPr>
          <a:xfrm>
            <a:off x="365760" y="274320"/>
            <a:ext cx="8412480" cy="914400"/>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Problem Statement</a:t>
            </a:r>
            <a:endParaRPr lang="en-US" sz="3000" dirty="0"/>
          </a:p>
        </p:txBody>
      </p:sp>
      <p:sp>
        <p:nvSpPr>
          <p:cNvPr id="4" name="Shape 2"/>
          <p:cNvSpPr/>
          <p:nvPr/>
        </p:nvSpPr>
        <p:spPr>
          <a:xfrm>
            <a:off x="365760" y="1417320"/>
            <a:ext cx="4023360" cy="1463040"/>
          </a:xfrm>
          <a:prstGeom prst="roundRect">
            <a:avLst>
              <a:gd name="adj" fmla="val 6250"/>
            </a:avLst>
          </a:prstGeom>
          <a:solidFill>
            <a:srgbClr val="FFFFFF"/>
          </a:solidFill>
          <a:ln w="12700">
            <a:solidFill>
              <a:srgbClr val="C8E8EC"/>
            </a:solidFill>
            <a:prstDash val="solid"/>
          </a:ln>
          <a:effectLst>
            <a:outerShdw blurRad="101600" dist="38100" dir="2700000" algn="bl" rotWithShape="0">
              <a:srgbClr val="000000">
                <a:alpha val="12000"/>
              </a:srgbClr>
            </a:outerShdw>
          </a:effectLst>
        </p:spPr>
      </p:sp>
      <p:sp>
        <p:nvSpPr>
          <p:cNvPr id="5" name="Shape 3"/>
          <p:cNvSpPr/>
          <p:nvPr/>
        </p:nvSpPr>
        <p:spPr>
          <a:xfrm>
            <a:off x="502920" y="1645920"/>
            <a:ext cx="457200" cy="457200"/>
          </a:xfrm>
          <a:prstGeom prst="ellipse">
            <a:avLst/>
          </a:prstGeom>
          <a:solidFill>
            <a:srgbClr val="0D7B8A"/>
          </a:solidFill>
          <a:ln w="12700">
            <a:solidFill>
              <a:srgbClr val="0D7B8A"/>
            </a:solidFill>
            <a:prstDash val="solid"/>
          </a:ln>
        </p:spPr>
      </p:sp>
      <p:sp>
        <p:nvSpPr>
          <p:cNvPr id="6" name="Text 4"/>
          <p:cNvSpPr/>
          <p:nvPr/>
        </p:nvSpPr>
        <p:spPr>
          <a:xfrm>
            <a:off x="502920" y="164592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rPr>
              <a:t>01</a:t>
            </a:r>
            <a:endParaRPr lang="en-US" sz="1100" dirty="0"/>
          </a:p>
        </p:txBody>
      </p:sp>
      <p:sp>
        <p:nvSpPr>
          <p:cNvPr id="7" name="Text 5"/>
          <p:cNvSpPr/>
          <p:nvPr/>
        </p:nvSpPr>
        <p:spPr>
          <a:xfrm>
            <a:off x="1051560" y="1618488"/>
            <a:ext cx="3200400" cy="320040"/>
          </a:xfrm>
          <a:prstGeom prst="rect">
            <a:avLst/>
          </a:prstGeom>
          <a:noFill/>
          <a:ln/>
        </p:spPr>
        <p:txBody>
          <a:bodyPr wrap="square" rtlCol="0" anchor="ctr"/>
          <a:lstStyle/>
          <a:p>
            <a:pPr marL="0" indent="0">
              <a:buNone/>
            </a:pPr>
            <a:r>
              <a:rPr lang="en-US" sz="1300" b="1" dirty="0">
                <a:solidFill>
                  <a:srgbClr val="0D2B3E"/>
                </a:solidFill>
                <a:latin typeface="Calibri" pitchFamily="34" charset="0"/>
                <a:ea typeface="Calibri" pitchFamily="34" charset="-122"/>
                <a:cs typeface="Calibri" pitchFamily="34" charset="-120"/>
              </a:rPr>
              <a:t>Healthcare Access Gap</a:t>
            </a:r>
            <a:endParaRPr lang="en-US" sz="1300" dirty="0"/>
          </a:p>
        </p:txBody>
      </p:sp>
      <p:sp>
        <p:nvSpPr>
          <p:cNvPr id="8" name="Text 6"/>
          <p:cNvSpPr/>
          <p:nvPr/>
        </p:nvSpPr>
        <p:spPr>
          <a:xfrm>
            <a:off x="548640" y="2039112"/>
            <a:ext cx="3566160" cy="731520"/>
          </a:xfrm>
          <a:prstGeom prst="rect">
            <a:avLst/>
          </a:prstGeom>
          <a:noFill/>
          <a:ln/>
        </p:spPr>
        <p:txBody>
          <a:bodyPr wrap="square" rtlCol="0" anchor="ctr"/>
          <a:lstStyle/>
          <a:p>
            <a:pPr marL="0" indent="0">
              <a:buNone/>
            </a:pPr>
            <a:r>
              <a:rPr lang="en-US" sz="1100" dirty="0">
                <a:solidFill>
                  <a:srgbClr val="5E7A84"/>
                </a:solidFill>
                <a:latin typeface="Calibri" pitchFamily="34" charset="0"/>
                <a:ea typeface="Calibri" pitchFamily="34" charset="-122"/>
                <a:cs typeface="Calibri" pitchFamily="34" charset="-120"/>
              </a:rPr>
              <a:t>Millions of people in rural and semi-urban areas lack easy access to qualified doctors and hospitals.</a:t>
            </a:r>
            <a:endParaRPr lang="en-US" sz="1100" dirty="0"/>
          </a:p>
        </p:txBody>
      </p:sp>
      <p:sp>
        <p:nvSpPr>
          <p:cNvPr id="9" name="Shape 7"/>
          <p:cNvSpPr/>
          <p:nvPr/>
        </p:nvSpPr>
        <p:spPr>
          <a:xfrm>
            <a:off x="4617720" y="1417320"/>
            <a:ext cx="4023360" cy="1463040"/>
          </a:xfrm>
          <a:prstGeom prst="roundRect">
            <a:avLst>
              <a:gd name="adj" fmla="val 6250"/>
            </a:avLst>
          </a:prstGeom>
          <a:solidFill>
            <a:srgbClr val="FFFFFF"/>
          </a:solidFill>
          <a:ln w="12700">
            <a:solidFill>
              <a:srgbClr val="C8E8EC"/>
            </a:solidFill>
            <a:prstDash val="solid"/>
          </a:ln>
          <a:effectLst>
            <a:outerShdw blurRad="101600" dist="38100" dir="2700000" algn="bl" rotWithShape="0">
              <a:srgbClr val="000000">
                <a:alpha val="12000"/>
              </a:srgbClr>
            </a:outerShdw>
          </a:effectLst>
        </p:spPr>
      </p:sp>
      <p:sp>
        <p:nvSpPr>
          <p:cNvPr id="10" name="Shape 8"/>
          <p:cNvSpPr/>
          <p:nvPr/>
        </p:nvSpPr>
        <p:spPr>
          <a:xfrm>
            <a:off x="4754880" y="1645920"/>
            <a:ext cx="457200" cy="457200"/>
          </a:xfrm>
          <a:prstGeom prst="ellipse">
            <a:avLst/>
          </a:prstGeom>
          <a:solidFill>
            <a:srgbClr val="0D7B8A"/>
          </a:solidFill>
          <a:ln w="12700">
            <a:solidFill>
              <a:srgbClr val="0D7B8A"/>
            </a:solidFill>
            <a:prstDash val="solid"/>
          </a:ln>
        </p:spPr>
      </p:sp>
      <p:sp>
        <p:nvSpPr>
          <p:cNvPr id="11" name="Text 9"/>
          <p:cNvSpPr/>
          <p:nvPr/>
        </p:nvSpPr>
        <p:spPr>
          <a:xfrm>
            <a:off x="4754880" y="164592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rPr>
              <a:t>02</a:t>
            </a:r>
            <a:endParaRPr lang="en-US" sz="1100" dirty="0"/>
          </a:p>
        </p:txBody>
      </p:sp>
      <p:sp>
        <p:nvSpPr>
          <p:cNvPr id="12" name="Text 10"/>
          <p:cNvSpPr/>
          <p:nvPr/>
        </p:nvSpPr>
        <p:spPr>
          <a:xfrm>
            <a:off x="5303520" y="1618488"/>
            <a:ext cx="3200400" cy="320040"/>
          </a:xfrm>
          <a:prstGeom prst="rect">
            <a:avLst/>
          </a:prstGeom>
          <a:noFill/>
          <a:ln/>
        </p:spPr>
        <p:txBody>
          <a:bodyPr wrap="square" rtlCol="0" anchor="ctr"/>
          <a:lstStyle/>
          <a:p>
            <a:pPr marL="0" indent="0">
              <a:buNone/>
            </a:pPr>
            <a:r>
              <a:rPr lang="en-US" sz="1300" b="1" dirty="0">
                <a:solidFill>
                  <a:srgbClr val="0D2B3E"/>
                </a:solidFill>
                <a:latin typeface="Calibri" pitchFamily="34" charset="0"/>
                <a:ea typeface="Calibri" pitchFamily="34" charset="-122"/>
                <a:cs typeface="Calibri" pitchFamily="34" charset="-120"/>
              </a:rPr>
              <a:t>Long Wait Times</a:t>
            </a:r>
            <a:endParaRPr lang="en-US" sz="1300" dirty="0"/>
          </a:p>
        </p:txBody>
      </p:sp>
      <p:sp>
        <p:nvSpPr>
          <p:cNvPr id="13" name="Text 11"/>
          <p:cNvSpPr/>
          <p:nvPr/>
        </p:nvSpPr>
        <p:spPr>
          <a:xfrm>
            <a:off x="4800600" y="2039112"/>
            <a:ext cx="3566160" cy="731520"/>
          </a:xfrm>
          <a:prstGeom prst="rect">
            <a:avLst/>
          </a:prstGeom>
          <a:noFill/>
          <a:ln/>
        </p:spPr>
        <p:txBody>
          <a:bodyPr wrap="square" rtlCol="0" anchor="ctr"/>
          <a:lstStyle/>
          <a:p>
            <a:pPr marL="0" indent="0">
              <a:buNone/>
            </a:pPr>
            <a:r>
              <a:rPr lang="en-US" sz="1100" dirty="0">
                <a:solidFill>
                  <a:srgbClr val="5E7A84"/>
                </a:solidFill>
                <a:latin typeface="Calibri" pitchFamily="34" charset="0"/>
                <a:ea typeface="Calibri" pitchFamily="34" charset="-122"/>
                <a:cs typeface="Calibri" pitchFamily="34" charset="-120"/>
              </a:rPr>
              <a:t>Traditional clinics force patients to wait hours just for a short consultation — wasting time and increasing stress.</a:t>
            </a:r>
            <a:endParaRPr lang="en-US" sz="1100" dirty="0"/>
          </a:p>
        </p:txBody>
      </p:sp>
      <p:sp>
        <p:nvSpPr>
          <p:cNvPr id="14" name="Shape 12"/>
          <p:cNvSpPr/>
          <p:nvPr/>
        </p:nvSpPr>
        <p:spPr>
          <a:xfrm>
            <a:off x="365760" y="3063240"/>
            <a:ext cx="4023360" cy="1463040"/>
          </a:xfrm>
          <a:prstGeom prst="roundRect">
            <a:avLst>
              <a:gd name="adj" fmla="val 6250"/>
            </a:avLst>
          </a:prstGeom>
          <a:solidFill>
            <a:srgbClr val="FFFFFF"/>
          </a:solidFill>
          <a:ln w="12700">
            <a:solidFill>
              <a:srgbClr val="C8E8EC"/>
            </a:solidFill>
            <a:prstDash val="solid"/>
          </a:ln>
          <a:effectLst>
            <a:outerShdw blurRad="101600" dist="38100" dir="2700000" algn="bl" rotWithShape="0">
              <a:srgbClr val="000000">
                <a:alpha val="12000"/>
              </a:srgbClr>
            </a:outerShdw>
          </a:effectLst>
        </p:spPr>
      </p:sp>
      <p:sp>
        <p:nvSpPr>
          <p:cNvPr id="15" name="Shape 13"/>
          <p:cNvSpPr/>
          <p:nvPr/>
        </p:nvSpPr>
        <p:spPr>
          <a:xfrm>
            <a:off x="502920" y="3291840"/>
            <a:ext cx="457200" cy="457200"/>
          </a:xfrm>
          <a:prstGeom prst="ellipse">
            <a:avLst/>
          </a:prstGeom>
          <a:solidFill>
            <a:srgbClr val="0D7B8A"/>
          </a:solidFill>
          <a:ln w="12700">
            <a:solidFill>
              <a:srgbClr val="0D7B8A"/>
            </a:solidFill>
            <a:prstDash val="solid"/>
          </a:ln>
        </p:spPr>
      </p:sp>
      <p:sp>
        <p:nvSpPr>
          <p:cNvPr id="16" name="Text 14"/>
          <p:cNvSpPr/>
          <p:nvPr/>
        </p:nvSpPr>
        <p:spPr>
          <a:xfrm>
            <a:off x="502920" y="329184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rPr>
              <a:t>03</a:t>
            </a:r>
            <a:endParaRPr lang="en-US" sz="1100" dirty="0"/>
          </a:p>
        </p:txBody>
      </p:sp>
      <p:sp>
        <p:nvSpPr>
          <p:cNvPr id="17" name="Text 15"/>
          <p:cNvSpPr/>
          <p:nvPr/>
        </p:nvSpPr>
        <p:spPr>
          <a:xfrm>
            <a:off x="1051560" y="3264408"/>
            <a:ext cx="3200400" cy="320040"/>
          </a:xfrm>
          <a:prstGeom prst="rect">
            <a:avLst/>
          </a:prstGeom>
          <a:noFill/>
          <a:ln/>
        </p:spPr>
        <p:txBody>
          <a:bodyPr wrap="square" rtlCol="0" anchor="ctr"/>
          <a:lstStyle/>
          <a:p>
            <a:pPr marL="0" indent="0">
              <a:buNone/>
            </a:pPr>
            <a:r>
              <a:rPr lang="en-US" sz="1300" b="1" dirty="0">
                <a:solidFill>
                  <a:srgbClr val="0D2B3E"/>
                </a:solidFill>
                <a:latin typeface="Calibri" pitchFamily="34" charset="0"/>
                <a:ea typeface="Calibri" pitchFamily="34" charset="-122"/>
                <a:cs typeface="Calibri" pitchFamily="34" charset="-120"/>
              </a:rPr>
              <a:t>No Digital Front-End Standards</a:t>
            </a:r>
            <a:endParaRPr lang="en-US" sz="1300" dirty="0"/>
          </a:p>
        </p:txBody>
      </p:sp>
      <p:sp>
        <p:nvSpPr>
          <p:cNvPr id="18" name="Text 16"/>
          <p:cNvSpPr/>
          <p:nvPr/>
        </p:nvSpPr>
        <p:spPr>
          <a:xfrm>
            <a:off x="548640" y="3685032"/>
            <a:ext cx="3566160" cy="731520"/>
          </a:xfrm>
          <a:prstGeom prst="rect">
            <a:avLst/>
          </a:prstGeom>
          <a:noFill/>
          <a:ln/>
        </p:spPr>
        <p:txBody>
          <a:bodyPr wrap="square" rtlCol="0" anchor="ctr"/>
          <a:lstStyle/>
          <a:p>
            <a:pPr marL="0" indent="0">
              <a:buNone/>
            </a:pPr>
            <a:r>
              <a:rPr lang="en-US" sz="1100" dirty="0">
                <a:solidFill>
                  <a:srgbClr val="5E7A84"/>
                </a:solidFill>
                <a:latin typeface="Calibri" pitchFamily="34" charset="0"/>
                <a:ea typeface="Calibri" pitchFamily="34" charset="-122"/>
                <a:cs typeface="Calibri" pitchFamily="34" charset="-120"/>
              </a:rPr>
              <a:t>Most telemedicine apps lack intuitive UIs. Patients struggle to navigate appointments, records, and video calls.</a:t>
            </a:r>
            <a:endParaRPr lang="en-US" sz="1100" dirty="0"/>
          </a:p>
        </p:txBody>
      </p:sp>
      <p:sp>
        <p:nvSpPr>
          <p:cNvPr id="19" name="Shape 17"/>
          <p:cNvSpPr/>
          <p:nvPr/>
        </p:nvSpPr>
        <p:spPr>
          <a:xfrm>
            <a:off x="4617720" y="3063240"/>
            <a:ext cx="4023360" cy="1463040"/>
          </a:xfrm>
          <a:prstGeom prst="roundRect">
            <a:avLst>
              <a:gd name="adj" fmla="val 6250"/>
            </a:avLst>
          </a:prstGeom>
          <a:solidFill>
            <a:srgbClr val="FFFFFF"/>
          </a:solidFill>
          <a:ln w="12700">
            <a:solidFill>
              <a:srgbClr val="C8E8EC"/>
            </a:solidFill>
            <a:prstDash val="solid"/>
          </a:ln>
          <a:effectLst>
            <a:outerShdw blurRad="101600" dist="38100" dir="2700000" algn="bl" rotWithShape="0">
              <a:srgbClr val="000000">
                <a:alpha val="12000"/>
              </a:srgbClr>
            </a:outerShdw>
          </a:effectLst>
        </p:spPr>
      </p:sp>
      <p:sp>
        <p:nvSpPr>
          <p:cNvPr id="20" name="Shape 18"/>
          <p:cNvSpPr/>
          <p:nvPr/>
        </p:nvSpPr>
        <p:spPr>
          <a:xfrm>
            <a:off x="4754880" y="3291840"/>
            <a:ext cx="457200" cy="457200"/>
          </a:xfrm>
          <a:prstGeom prst="ellipse">
            <a:avLst/>
          </a:prstGeom>
          <a:solidFill>
            <a:srgbClr val="0D7B8A"/>
          </a:solidFill>
          <a:ln w="12700">
            <a:solidFill>
              <a:srgbClr val="0D7B8A"/>
            </a:solidFill>
            <a:prstDash val="solid"/>
          </a:ln>
        </p:spPr>
      </p:sp>
      <p:sp>
        <p:nvSpPr>
          <p:cNvPr id="21" name="Text 19"/>
          <p:cNvSpPr/>
          <p:nvPr/>
        </p:nvSpPr>
        <p:spPr>
          <a:xfrm>
            <a:off x="4754880" y="329184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rPr>
              <a:t>04</a:t>
            </a:r>
            <a:endParaRPr lang="en-US" sz="1100" dirty="0"/>
          </a:p>
        </p:txBody>
      </p:sp>
      <p:sp>
        <p:nvSpPr>
          <p:cNvPr id="22" name="Text 20"/>
          <p:cNvSpPr/>
          <p:nvPr/>
        </p:nvSpPr>
        <p:spPr>
          <a:xfrm>
            <a:off x="5303520" y="3264408"/>
            <a:ext cx="3200400" cy="320040"/>
          </a:xfrm>
          <a:prstGeom prst="rect">
            <a:avLst/>
          </a:prstGeom>
          <a:noFill/>
          <a:ln/>
        </p:spPr>
        <p:txBody>
          <a:bodyPr wrap="square" rtlCol="0" anchor="ctr"/>
          <a:lstStyle/>
          <a:p>
            <a:pPr marL="0" indent="0">
              <a:buNone/>
            </a:pPr>
            <a:r>
              <a:rPr lang="en-US" sz="1300" b="1" dirty="0">
                <a:solidFill>
                  <a:srgbClr val="0D2B3E"/>
                </a:solidFill>
                <a:latin typeface="Calibri" pitchFamily="34" charset="0"/>
                <a:ea typeface="Calibri" pitchFamily="34" charset="-122"/>
                <a:cs typeface="Calibri" pitchFamily="34" charset="-120"/>
              </a:rPr>
              <a:t>Missing Learning Resource</a:t>
            </a:r>
            <a:endParaRPr lang="en-US" sz="1300" dirty="0"/>
          </a:p>
        </p:txBody>
      </p:sp>
      <p:sp>
        <p:nvSpPr>
          <p:cNvPr id="23" name="Text 21"/>
          <p:cNvSpPr/>
          <p:nvPr/>
        </p:nvSpPr>
        <p:spPr>
          <a:xfrm>
            <a:off x="4800600" y="3685032"/>
            <a:ext cx="3566160" cy="731520"/>
          </a:xfrm>
          <a:prstGeom prst="rect">
            <a:avLst/>
          </a:prstGeom>
          <a:noFill/>
          <a:ln/>
        </p:spPr>
        <p:txBody>
          <a:bodyPr wrap="square" rtlCol="0" anchor="ctr"/>
          <a:lstStyle/>
          <a:p>
            <a:pPr marL="0" indent="0">
              <a:buNone/>
            </a:pPr>
            <a:r>
              <a:rPr lang="en-US" sz="1100" dirty="0">
                <a:solidFill>
                  <a:srgbClr val="5E7A84"/>
                </a:solidFill>
                <a:latin typeface="Calibri" pitchFamily="34" charset="0"/>
                <a:ea typeface="Calibri" pitchFamily="34" charset="-122"/>
                <a:cs typeface="Calibri" pitchFamily="34" charset="-120"/>
              </a:rPr>
              <a:t>There was no hands-on front-end project that covers a real healthcare UI end-to-end using modern React practices.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2B3E"/>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Our Solution</a:t>
            </a:r>
            <a:endParaRPr lang="en-US" sz="3400" dirty="0"/>
          </a:p>
        </p:txBody>
      </p:sp>
      <p:sp>
        <p:nvSpPr>
          <p:cNvPr id="3" name="Text 1"/>
          <p:cNvSpPr/>
          <p:nvPr/>
        </p:nvSpPr>
        <p:spPr>
          <a:xfrm>
            <a:off x="457200" y="1005840"/>
            <a:ext cx="8229600" cy="411480"/>
          </a:xfrm>
          <a:prstGeom prst="rect">
            <a:avLst/>
          </a:prstGeom>
          <a:noFill/>
          <a:ln/>
        </p:spPr>
        <p:txBody>
          <a:bodyPr wrap="square" rtlCol="0" anchor="ctr"/>
          <a:lstStyle/>
          <a:p>
            <a:pPr marL="0" indent="0" algn="ctr">
              <a:buNone/>
            </a:pPr>
            <a:r>
              <a:rPr lang="en-US" sz="1400" dirty="0">
                <a:solidFill>
                  <a:srgbClr val="C8E8EC"/>
                </a:solidFill>
                <a:latin typeface="Calibri" pitchFamily="34" charset="0"/>
                <a:ea typeface="Calibri" pitchFamily="34" charset="-122"/>
                <a:cs typeface="Calibri" pitchFamily="34" charset="-120"/>
              </a:rPr>
              <a:t>A fully functional React-based telemedicine front-end that mimics real clinic workflows.</a:t>
            </a:r>
            <a:endParaRPr lang="en-US" sz="1400" dirty="0"/>
          </a:p>
        </p:txBody>
      </p:sp>
      <p:sp>
        <p:nvSpPr>
          <p:cNvPr id="4" name="Shape 2"/>
          <p:cNvSpPr/>
          <p:nvPr/>
        </p:nvSpPr>
        <p:spPr>
          <a:xfrm>
            <a:off x="365760" y="1600200"/>
            <a:ext cx="2651760" cy="1417320"/>
          </a:xfrm>
          <a:prstGeom prst="roundRect">
            <a:avLst>
              <a:gd name="adj" fmla="val 6452"/>
            </a:avLst>
          </a:prstGeom>
          <a:solidFill>
            <a:srgbClr val="0D2B3E"/>
          </a:solidFill>
          <a:ln w="12700">
            <a:solidFill>
              <a:srgbClr val="0D7B8A"/>
            </a:solidFill>
            <a:prstDash val="solid"/>
          </a:ln>
          <a:effectLst>
            <a:outerShdw blurRad="101600" dist="38100" dir="2700000" algn="bl" rotWithShape="0">
              <a:srgbClr val="000000">
                <a:alpha val="12000"/>
              </a:srgbClr>
            </a:outerShdw>
          </a:effectLst>
        </p:spPr>
      </p:sp>
      <p:sp>
        <p:nvSpPr>
          <p:cNvPr id="5" name="Text 3"/>
          <p:cNvSpPr/>
          <p:nvPr/>
        </p:nvSpPr>
        <p:spPr>
          <a:xfrm>
            <a:off x="365760" y="1737360"/>
            <a:ext cx="2651760" cy="41148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6" name="Text 4"/>
          <p:cNvSpPr/>
          <p:nvPr/>
        </p:nvSpPr>
        <p:spPr>
          <a:xfrm>
            <a:off x="457200" y="2130552"/>
            <a:ext cx="2468880" cy="274320"/>
          </a:xfrm>
          <a:prstGeom prst="rect">
            <a:avLst/>
          </a:prstGeom>
          <a:noFill/>
          <a:ln/>
        </p:spPr>
        <p:txBody>
          <a:bodyPr wrap="square" rtlCol="0" anchor="ctr"/>
          <a:lstStyle/>
          <a:p>
            <a:pPr marL="0" indent="0" algn="ctr">
              <a:buNone/>
            </a:pPr>
            <a:r>
              <a:rPr lang="en-US" sz="1200" b="1" dirty="0">
                <a:solidFill>
                  <a:srgbClr val="16B7C8"/>
                </a:solidFill>
                <a:latin typeface="Calibri" pitchFamily="34" charset="0"/>
                <a:ea typeface="Calibri" pitchFamily="34" charset="-122"/>
                <a:cs typeface="Calibri" pitchFamily="34" charset="-120"/>
              </a:rPr>
              <a:t>Public Homepage</a:t>
            </a:r>
            <a:endParaRPr lang="en-US" sz="1200" dirty="0"/>
          </a:p>
        </p:txBody>
      </p:sp>
      <p:sp>
        <p:nvSpPr>
          <p:cNvPr id="7" name="Text 5"/>
          <p:cNvSpPr/>
          <p:nvPr/>
        </p:nvSpPr>
        <p:spPr>
          <a:xfrm>
            <a:off x="457200" y="2404872"/>
            <a:ext cx="2468880" cy="502920"/>
          </a:xfrm>
          <a:prstGeom prst="rect">
            <a:avLst/>
          </a:prstGeom>
          <a:noFill/>
          <a:ln/>
        </p:spPr>
        <p:txBody>
          <a:bodyPr wrap="square" rtlCol="0" anchor="ctr"/>
          <a:lstStyle/>
          <a:p>
            <a:pPr marL="0" indent="0" algn="ctr">
              <a:buNone/>
            </a:pPr>
            <a:r>
              <a:rPr lang="en-US" sz="1000" dirty="0">
                <a:solidFill>
                  <a:srgbClr val="C8E8EC"/>
                </a:solidFill>
                <a:latin typeface="Calibri" pitchFamily="34" charset="0"/>
                <a:ea typeface="Calibri" pitchFamily="34" charset="-122"/>
                <a:cs typeface="Calibri" pitchFamily="34" charset="-120"/>
              </a:rPr>
              <a:t>Responsive landing page with hero, about, services, and smooth navigation</a:t>
            </a:r>
            <a:endParaRPr lang="en-US" sz="1000" dirty="0"/>
          </a:p>
        </p:txBody>
      </p:sp>
      <p:sp>
        <p:nvSpPr>
          <p:cNvPr id="8" name="Shape 6"/>
          <p:cNvSpPr/>
          <p:nvPr/>
        </p:nvSpPr>
        <p:spPr>
          <a:xfrm>
            <a:off x="3218688" y="1600200"/>
            <a:ext cx="2651760" cy="1417320"/>
          </a:xfrm>
          <a:prstGeom prst="roundRect">
            <a:avLst>
              <a:gd name="adj" fmla="val 6452"/>
            </a:avLst>
          </a:prstGeom>
          <a:solidFill>
            <a:srgbClr val="0D2B3E"/>
          </a:solidFill>
          <a:ln w="12700">
            <a:solidFill>
              <a:srgbClr val="0D7B8A"/>
            </a:solidFill>
            <a:prstDash val="solid"/>
          </a:ln>
          <a:effectLst>
            <a:outerShdw blurRad="101600" dist="38100" dir="2700000" algn="bl" rotWithShape="0">
              <a:srgbClr val="000000">
                <a:alpha val="12000"/>
              </a:srgbClr>
            </a:outerShdw>
          </a:effectLst>
        </p:spPr>
      </p:sp>
      <p:sp>
        <p:nvSpPr>
          <p:cNvPr id="9" name="Text 7"/>
          <p:cNvSpPr/>
          <p:nvPr/>
        </p:nvSpPr>
        <p:spPr>
          <a:xfrm>
            <a:off x="3218688" y="1737360"/>
            <a:ext cx="2651760" cy="41148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0" name="Text 8"/>
          <p:cNvSpPr/>
          <p:nvPr/>
        </p:nvSpPr>
        <p:spPr>
          <a:xfrm>
            <a:off x="3310128" y="2130552"/>
            <a:ext cx="2468880" cy="274320"/>
          </a:xfrm>
          <a:prstGeom prst="rect">
            <a:avLst/>
          </a:prstGeom>
          <a:noFill/>
          <a:ln/>
        </p:spPr>
        <p:txBody>
          <a:bodyPr wrap="square" rtlCol="0" anchor="ctr"/>
          <a:lstStyle/>
          <a:p>
            <a:pPr marL="0" indent="0" algn="ctr">
              <a:buNone/>
            </a:pPr>
            <a:r>
              <a:rPr lang="en-US" sz="1200" b="1" dirty="0">
                <a:solidFill>
                  <a:srgbClr val="16B7C8"/>
                </a:solidFill>
                <a:latin typeface="Calibri" pitchFamily="34" charset="0"/>
                <a:ea typeface="Calibri" pitchFamily="34" charset="-122"/>
                <a:cs typeface="Calibri" pitchFamily="34" charset="-120"/>
              </a:rPr>
              <a:t>Protected Auth</a:t>
            </a:r>
            <a:endParaRPr lang="en-US" sz="1200" dirty="0"/>
          </a:p>
        </p:txBody>
      </p:sp>
      <p:sp>
        <p:nvSpPr>
          <p:cNvPr id="11" name="Text 9"/>
          <p:cNvSpPr/>
          <p:nvPr/>
        </p:nvSpPr>
        <p:spPr>
          <a:xfrm>
            <a:off x="3310128" y="2404872"/>
            <a:ext cx="2468880" cy="502920"/>
          </a:xfrm>
          <a:prstGeom prst="rect">
            <a:avLst/>
          </a:prstGeom>
          <a:noFill/>
          <a:ln/>
        </p:spPr>
        <p:txBody>
          <a:bodyPr wrap="square" rtlCol="0" anchor="ctr"/>
          <a:lstStyle/>
          <a:p>
            <a:pPr marL="0" indent="0" algn="ctr">
              <a:buNone/>
            </a:pPr>
            <a:r>
              <a:rPr lang="en-US" sz="1000" dirty="0">
                <a:solidFill>
                  <a:srgbClr val="C8E8EC"/>
                </a:solidFill>
                <a:latin typeface="Calibri" pitchFamily="34" charset="0"/>
                <a:ea typeface="Calibri" pitchFamily="34" charset="-122"/>
                <a:cs typeface="Calibri" pitchFamily="34" charset="-120"/>
              </a:rPr>
              <a:t>Login/Signup with localStorage-based session and React Router protected routes</a:t>
            </a:r>
            <a:endParaRPr lang="en-US" sz="1000" dirty="0"/>
          </a:p>
        </p:txBody>
      </p:sp>
      <p:sp>
        <p:nvSpPr>
          <p:cNvPr id="12" name="Shape 10"/>
          <p:cNvSpPr/>
          <p:nvPr/>
        </p:nvSpPr>
        <p:spPr>
          <a:xfrm>
            <a:off x="6071616" y="1600200"/>
            <a:ext cx="2651760" cy="1417320"/>
          </a:xfrm>
          <a:prstGeom prst="roundRect">
            <a:avLst>
              <a:gd name="adj" fmla="val 6452"/>
            </a:avLst>
          </a:prstGeom>
          <a:solidFill>
            <a:srgbClr val="0D2B3E"/>
          </a:solidFill>
          <a:ln w="12700">
            <a:solidFill>
              <a:srgbClr val="0D7B8A"/>
            </a:solidFill>
            <a:prstDash val="solid"/>
          </a:ln>
          <a:effectLst>
            <a:outerShdw blurRad="101600" dist="38100" dir="2700000" algn="bl" rotWithShape="0">
              <a:srgbClr val="000000">
                <a:alpha val="12000"/>
              </a:srgbClr>
            </a:outerShdw>
          </a:effectLst>
        </p:spPr>
      </p:sp>
      <p:sp>
        <p:nvSpPr>
          <p:cNvPr id="13" name="Text 11"/>
          <p:cNvSpPr/>
          <p:nvPr/>
        </p:nvSpPr>
        <p:spPr>
          <a:xfrm>
            <a:off x="6071616" y="1737360"/>
            <a:ext cx="2651760" cy="41148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4" name="Text 12"/>
          <p:cNvSpPr/>
          <p:nvPr/>
        </p:nvSpPr>
        <p:spPr>
          <a:xfrm>
            <a:off x="6163056" y="2130552"/>
            <a:ext cx="2468880" cy="274320"/>
          </a:xfrm>
          <a:prstGeom prst="rect">
            <a:avLst/>
          </a:prstGeom>
          <a:noFill/>
          <a:ln/>
        </p:spPr>
        <p:txBody>
          <a:bodyPr wrap="square" rtlCol="0" anchor="ctr"/>
          <a:lstStyle/>
          <a:p>
            <a:pPr marL="0" indent="0" algn="ctr">
              <a:buNone/>
            </a:pPr>
            <a:r>
              <a:rPr lang="en-US" sz="1200" b="1" dirty="0">
                <a:solidFill>
                  <a:srgbClr val="16B7C8"/>
                </a:solidFill>
                <a:latin typeface="Calibri" pitchFamily="34" charset="0"/>
                <a:ea typeface="Calibri" pitchFamily="34" charset="-122"/>
                <a:cs typeface="Calibri" pitchFamily="34" charset="-120"/>
              </a:rPr>
              <a:t>Smart Dashboard</a:t>
            </a:r>
            <a:endParaRPr lang="en-US" sz="1200" dirty="0"/>
          </a:p>
        </p:txBody>
      </p:sp>
      <p:sp>
        <p:nvSpPr>
          <p:cNvPr id="15" name="Text 13"/>
          <p:cNvSpPr/>
          <p:nvPr/>
        </p:nvSpPr>
        <p:spPr>
          <a:xfrm>
            <a:off x="6163056" y="2404872"/>
            <a:ext cx="2468880" cy="502920"/>
          </a:xfrm>
          <a:prstGeom prst="rect">
            <a:avLst/>
          </a:prstGeom>
          <a:noFill/>
          <a:ln/>
        </p:spPr>
        <p:txBody>
          <a:bodyPr wrap="square" rtlCol="0" anchor="ctr"/>
          <a:lstStyle/>
          <a:p>
            <a:pPr marL="0" indent="0" algn="ctr">
              <a:buNone/>
            </a:pPr>
            <a:r>
              <a:rPr lang="en-US" sz="1000" dirty="0">
                <a:solidFill>
                  <a:srgbClr val="C8E8EC"/>
                </a:solidFill>
                <a:latin typeface="Calibri" pitchFamily="34" charset="0"/>
                <a:ea typeface="Calibri" pitchFamily="34" charset="-122"/>
                <a:cs typeface="Calibri" pitchFamily="34" charset="-120"/>
              </a:rPr>
              <a:t>Book appointments, track status, view history logs and manage notifications</a:t>
            </a:r>
            <a:endParaRPr lang="en-US" sz="1000" dirty="0"/>
          </a:p>
        </p:txBody>
      </p:sp>
      <p:sp>
        <p:nvSpPr>
          <p:cNvPr id="16" name="Shape 14"/>
          <p:cNvSpPr/>
          <p:nvPr/>
        </p:nvSpPr>
        <p:spPr>
          <a:xfrm>
            <a:off x="365760" y="3246120"/>
            <a:ext cx="2651760" cy="1417320"/>
          </a:xfrm>
          <a:prstGeom prst="roundRect">
            <a:avLst>
              <a:gd name="adj" fmla="val 6452"/>
            </a:avLst>
          </a:prstGeom>
          <a:solidFill>
            <a:srgbClr val="0D2B3E"/>
          </a:solidFill>
          <a:ln w="12700">
            <a:solidFill>
              <a:srgbClr val="0D7B8A"/>
            </a:solidFill>
            <a:prstDash val="solid"/>
          </a:ln>
          <a:effectLst>
            <a:outerShdw blurRad="101600" dist="38100" dir="2700000" algn="bl" rotWithShape="0">
              <a:srgbClr val="000000">
                <a:alpha val="12000"/>
              </a:srgbClr>
            </a:outerShdw>
          </a:effectLst>
        </p:spPr>
      </p:sp>
      <p:sp>
        <p:nvSpPr>
          <p:cNvPr id="17" name="Text 15"/>
          <p:cNvSpPr/>
          <p:nvPr/>
        </p:nvSpPr>
        <p:spPr>
          <a:xfrm>
            <a:off x="365760" y="3383280"/>
            <a:ext cx="2651760" cy="41148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8" name="Text 16"/>
          <p:cNvSpPr/>
          <p:nvPr/>
        </p:nvSpPr>
        <p:spPr>
          <a:xfrm>
            <a:off x="457200" y="3776472"/>
            <a:ext cx="2468880" cy="274320"/>
          </a:xfrm>
          <a:prstGeom prst="rect">
            <a:avLst/>
          </a:prstGeom>
          <a:noFill/>
          <a:ln/>
        </p:spPr>
        <p:txBody>
          <a:bodyPr wrap="square" rtlCol="0" anchor="ctr"/>
          <a:lstStyle/>
          <a:p>
            <a:pPr marL="0" indent="0" algn="ctr">
              <a:buNone/>
            </a:pPr>
            <a:r>
              <a:rPr lang="en-US" sz="1200" b="1" dirty="0">
                <a:solidFill>
                  <a:srgbClr val="16B7C8"/>
                </a:solidFill>
                <a:latin typeface="Calibri" pitchFamily="34" charset="0"/>
                <a:ea typeface="Calibri" pitchFamily="34" charset="-122"/>
                <a:cs typeface="Calibri" pitchFamily="34" charset="-120"/>
              </a:rPr>
              <a:t>Doctor Interface</a:t>
            </a:r>
            <a:endParaRPr lang="en-US" sz="1200" dirty="0"/>
          </a:p>
        </p:txBody>
      </p:sp>
      <p:sp>
        <p:nvSpPr>
          <p:cNvPr id="19" name="Text 17"/>
          <p:cNvSpPr/>
          <p:nvPr/>
        </p:nvSpPr>
        <p:spPr>
          <a:xfrm>
            <a:off x="457200" y="4050792"/>
            <a:ext cx="2468880" cy="502920"/>
          </a:xfrm>
          <a:prstGeom prst="rect">
            <a:avLst/>
          </a:prstGeom>
          <a:noFill/>
          <a:ln/>
        </p:spPr>
        <p:txBody>
          <a:bodyPr wrap="square" rtlCol="0" anchor="ctr"/>
          <a:lstStyle/>
          <a:p>
            <a:pPr marL="0" indent="0" algn="ctr">
              <a:buNone/>
            </a:pPr>
            <a:r>
              <a:rPr lang="en-US" sz="1000" dirty="0">
                <a:solidFill>
                  <a:srgbClr val="C8E8EC"/>
                </a:solidFill>
                <a:latin typeface="Calibri" pitchFamily="34" charset="0"/>
                <a:ea typeface="Calibri" pitchFamily="34" charset="-122"/>
                <a:cs typeface="Calibri" pitchFamily="34" charset="-120"/>
              </a:rPr>
              <a:t>Symptom input, prescriptions, doctor notes, and PDF generation</a:t>
            </a:r>
            <a:endParaRPr lang="en-US" sz="1000" dirty="0"/>
          </a:p>
        </p:txBody>
      </p:sp>
      <p:sp>
        <p:nvSpPr>
          <p:cNvPr id="20" name="Shape 18"/>
          <p:cNvSpPr/>
          <p:nvPr/>
        </p:nvSpPr>
        <p:spPr>
          <a:xfrm>
            <a:off x="3218688" y="3246120"/>
            <a:ext cx="2651760" cy="1417320"/>
          </a:xfrm>
          <a:prstGeom prst="roundRect">
            <a:avLst>
              <a:gd name="adj" fmla="val 6452"/>
            </a:avLst>
          </a:prstGeom>
          <a:solidFill>
            <a:srgbClr val="0D2B3E"/>
          </a:solidFill>
          <a:ln w="12700">
            <a:solidFill>
              <a:srgbClr val="0D7B8A"/>
            </a:solidFill>
            <a:prstDash val="solid"/>
          </a:ln>
          <a:effectLst>
            <a:outerShdw blurRad="101600" dist="38100" dir="2700000" algn="bl" rotWithShape="0">
              <a:srgbClr val="000000">
                <a:alpha val="12000"/>
              </a:srgbClr>
            </a:outerShdw>
          </a:effectLst>
        </p:spPr>
      </p:sp>
      <p:sp>
        <p:nvSpPr>
          <p:cNvPr id="21" name="Text 19"/>
          <p:cNvSpPr/>
          <p:nvPr/>
        </p:nvSpPr>
        <p:spPr>
          <a:xfrm>
            <a:off x="3218688" y="3383280"/>
            <a:ext cx="2651760" cy="41148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22" name="Text 20"/>
          <p:cNvSpPr/>
          <p:nvPr/>
        </p:nvSpPr>
        <p:spPr>
          <a:xfrm>
            <a:off x="3310128" y="3776472"/>
            <a:ext cx="2468880" cy="274320"/>
          </a:xfrm>
          <a:prstGeom prst="rect">
            <a:avLst/>
          </a:prstGeom>
          <a:noFill/>
          <a:ln/>
        </p:spPr>
        <p:txBody>
          <a:bodyPr wrap="square" rtlCol="0" anchor="ctr"/>
          <a:lstStyle/>
          <a:p>
            <a:pPr marL="0" indent="0" algn="ctr">
              <a:buNone/>
            </a:pPr>
            <a:r>
              <a:rPr lang="en-US" sz="1200" b="1" dirty="0">
                <a:solidFill>
                  <a:srgbClr val="16B7C8"/>
                </a:solidFill>
                <a:latin typeface="Calibri" pitchFamily="34" charset="0"/>
                <a:ea typeface="Calibri" pitchFamily="34" charset="-122"/>
                <a:cs typeface="Calibri" pitchFamily="34" charset="-120"/>
              </a:rPr>
              <a:t>Video Consultation</a:t>
            </a:r>
            <a:endParaRPr lang="en-US" sz="1200" dirty="0"/>
          </a:p>
        </p:txBody>
      </p:sp>
      <p:sp>
        <p:nvSpPr>
          <p:cNvPr id="23" name="Text 21"/>
          <p:cNvSpPr/>
          <p:nvPr/>
        </p:nvSpPr>
        <p:spPr>
          <a:xfrm>
            <a:off x="3310128" y="4050792"/>
            <a:ext cx="2468880" cy="502920"/>
          </a:xfrm>
          <a:prstGeom prst="rect">
            <a:avLst/>
          </a:prstGeom>
          <a:noFill/>
          <a:ln/>
        </p:spPr>
        <p:txBody>
          <a:bodyPr wrap="square" rtlCol="0" anchor="ctr"/>
          <a:lstStyle/>
          <a:p>
            <a:pPr marL="0" indent="0" algn="ctr">
              <a:buNone/>
            </a:pPr>
            <a:r>
              <a:rPr lang="en-US" sz="1000" dirty="0">
                <a:solidFill>
                  <a:srgbClr val="C8E8EC"/>
                </a:solidFill>
                <a:latin typeface="Calibri" pitchFamily="34" charset="0"/>
                <a:ea typeface="Calibri" pitchFamily="34" charset="-122"/>
                <a:cs typeface="Calibri" pitchFamily="34" charset="-120"/>
              </a:rPr>
              <a:t>Pre-call checks, live video simulation with controls, post-call summaries</a:t>
            </a:r>
            <a:endParaRPr lang="en-US" sz="1000" dirty="0"/>
          </a:p>
        </p:txBody>
      </p:sp>
      <p:sp>
        <p:nvSpPr>
          <p:cNvPr id="24" name="Shape 22"/>
          <p:cNvSpPr/>
          <p:nvPr/>
        </p:nvSpPr>
        <p:spPr>
          <a:xfrm>
            <a:off x="6071616" y="3246120"/>
            <a:ext cx="2651760" cy="1417320"/>
          </a:xfrm>
          <a:prstGeom prst="roundRect">
            <a:avLst>
              <a:gd name="adj" fmla="val 6452"/>
            </a:avLst>
          </a:prstGeom>
          <a:solidFill>
            <a:srgbClr val="0D2B3E"/>
          </a:solidFill>
          <a:ln w="12700">
            <a:solidFill>
              <a:srgbClr val="0D7B8A"/>
            </a:solidFill>
            <a:prstDash val="solid"/>
          </a:ln>
          <a:effectLst>
            <a:outerShdw blurRad="101600" dist="38100" dir="2700000" algn="bl" rotWithShape="0">
              <a:srgbClr val="000000">
                <a:alpha val="12000"/>
              </a:srgbClr>
            </a:outerShdw>
          </a:effectLst>
        </p:spPr>
      </p:sp>
      <p:sp>
        <p:nvSpPr>
          <p:cNvPr id="25" name="Text 23"/>
          <p:cNvSpPr/>
          <p:nvPr/>
        </p:nvSpPr>
        <p:spPr>
          <a:xfrm>
            <a:off x="6071616" y="3383280"/>
            <a:ext cx="2651760" cy="41148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26" name="Text 24"/>
          <p:cNvSpPr/>
          <p:nvPr/>
        </p:nvSpPr>
        <p:spPr>
          <a:xfrm>
            <a:off x="6163056" y="3776472"/>
            <a:ext cx="2468880" cy="274320"/>
          </a:xfrm>
          <a:prstGeom prst="rect">
            <a:avLst/>
          </a:prstGeom>
          <a:noFill/>
          <a:ln/>
        </p:spPr>
        <p:txBody>
          <a:bodyPr wrap="square" rtlCol="0" anchor="ctr"/>
          <a:lstStyle/>
          <a:p>
            <a:pPr marL="0" indent="0" algn="ctr">
              <a:buNone/>
            </a:pPr>
            <a:r>
              <a:rPr lang="en-US" sz="1200" b="1" dirty="0">
                <a:solidFill>
                  <a:srgbClr val="16B7C8"/>
                </a:solidFill>
                <a:latin typeface="Calibri" pitchFamily="34" charset="0"/>
                <a:ea typeface="Calibri" pitchFamily="34" charset="-122"/>
                <a:cs typeface="Calibri" pitchFamily="34" charset="-120"/>
              </a:rPr>
              <a:t>Vite Build System</a:t>
            </a:r>
            <a:endParaRPr lang="en-US" sz="1200" dirty="0"/>
          </a:p>
        </p:txBody>
      </p:sp>
      <p:sp>
        <p:nvSpPr>
          <p:cNvPr id="27" name="Text 25"/>
          <p:cNvSpPr/>
          <p:nvPr/>
        </p:nvSpPr>
        <p:spPr>
          <a:xfrm>
            <a:off x="6163056" y="4050792"/>
            <a:ext cx="2468880" cy="502920"/>
          </a:xfrm>
          <a:prstGeom prst="rect">
            <a:avLst/>
          </a:prstGeom>
          <a:noFill/>
          <a:ln/>
        </p:spPr>
        <p:txBody>
          <a:bodyPr wrap="square" rtlCol="0" anchor="ctr"/>
          <a:lstStyle/>
          <a:p>
            <a:pPr marL="0" indent="0" algn="ctr">
              <a:buNone/>
            </a:pPr>
            <a:r>
              <a:rPr lang="en-US" sz="1000" dirty="0">
                <a:solidFill>
                  <a:srgbClr val="C8E8EC"/>
                </a:solidFill>
                <a:latin typeface="Calibri" pitchFamily="34" charset="0"/>
                <a:ea typeface="Calibri" pitchFamily="34" charset="-122"/>
                <a:cs typeface="Calibri" pitchFamily="34" charset="-120"/>
              </a:rPr>
              <a:t>Fast bundling, hot reload, environment config, and optimized production builds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9FA"/>
        </a:solidFill>
        <a:effectLst/>
      </p:bgPr>
    </p:bg>
    <p:spTree>
      <p:nvGrpSpPr>
        <p:cNvPr id="1" name=""/>
        <p:cNvGrpSpPr/>
        <p:nvPr/>
      </p:nvGrpSpPr>
      <p:grpSpPr>
        <a:xfrm>
          <a:off x="0" y="0"/>
          <a:ext cx="0" cy="0"/>
          <a:chOff x="0" y="0"/>
          <a:chExt cx="0" cy="0"/>
        </a:xfrm>
      </p:grpSpPr>
      <p:sp>
        <p:nvSpPr>
          <p:cNvPr id="2" name="Shape 0"/>
          <p:cNvSpPr/>
          <p:nvPr/>
        </p:nvSpPr>
        <p:spPr>
          <a:xfrm>
            <a:off x="365760" y="228600"/>
            <a:ext cx="8412480" cy="822960"/>
          </a:xfrm>
          <a:prstGeom prst="roundRect">
            <a:avLst>
              <a:gd name="adj" fmla="val 11111"/>
            </a:avLst>
          </a:prstGeom>
          <a:solidFill>
            <a:srgbClr val="0D7B8A"/>
          </a:solidFill>
          <a:ln w="12700">
            <a:solidFill>
              <a:srgbClr val="0D7B8A"/>
            </a:solidFill>
            <a:prstDash val="solid"/>
          </a:ln>
          <a:effectLst>
            <a:outerShdw blurRad="101600" dist="38100" dir="2700000" algn="bl" rotWithShape="0">
              <a:srgbClr val="000000">
                <a:alpha val="12000"/>
              </a:srgbClr>
            </a:outerShdw>
          </a:effectLst>
        </p:spPr>
      </p:sp>
      <p:sp>
        <p:nvSpPr>
          <p:cNvPr id="3" name="Shape 1"/>
          <p:cNvSpPr/>
          <p:nvPr/>
        </p:nvSpPr>
        <p:spPr>
          <a:xfrm>
            <a:off x="365760" y="228600"/>
            <a:ext cx="914400" cy="822960"/>
          </a:xfrm>
          <a:prstGeom prst="roundRect">
            <a:avLst>
              <a:gd name="adj" fmla="val 11111"/>
            </a:avLst>
          </a:prstGeom>
          <a:solidFill>
            <a:srgbClr val="0D2B3E"/>
          </a:solidFill>
          <a:ln w="12700">
            <a:solidFill>
              <a:srgbClr val="0D2B3E"/>
            </a:solidFill>
            <a:prstDash val="solid"/>
          </a:ln>
        </p:spPr>
      </p:sp>
      <p:sp>
        <p:nvSpPr>
          <p:cNvPr id="4" name="Text 2"/>
          <p:cNvSpPr/>
          <p:nvPr/>
        </p:nvSpPr>
        <p:spPr>
          <a:xfrm>
            <a:off x="365760" y="228600"/>
            <a:ext cx="91440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CO1</a:t>
            </a:r>
            <a:endParaRPr lang="en-US" sz="2200" dirty="0"/>
          </a:p>
        </p:txBody>
      </p:sp>
      <p:sp>
        <p:nvSpPr>
          <p:cNvPr id="5" name="Text 3"/>
          <p:cNvSpPr/>
          <p:nvPr/>
        </p:nvSpPr>
        <p:spPr>
          <a:xfrm>
            <a:off x="1417320" y="228600"/>
            <a:ext cx="7223760" cy="82296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Foundations of Front-End Engineering &amp; Framework Design</a:t>
            </a:r>
            <a:endParaRPr lang="en-US" sz="1800" dirty="0"/>
          </a:p>
        </p:txBody>
      </p:sp>
      <p:sp>
        <p:nvSpPr>
          <p:cNvPr id="6" name="Shape 4"/>
          <p:cNvSpPr/>
          <p:nvPr/>
        </p:nvSpPr>
        <p:spPr>
          <a:xfrm>
            <a:off x="365760" y="1188720"/>
            <a:ext cx="3977640" cy="1965960"/>
          </a:xfrm>
          <a:prstGeom prst="roundRect">
            <a:avLst>
              <a:gd name="adj" fmla="val 4651"/>
            </a:avLst>
          </a:prstGeom>
          <a:solidFill>
            <a:srgbClr val="FFFFFF"/>
          </a:solidFill>
          <a:ln w="12700">
            <a:solidFill>
              <a:srgbClr val="C8E8EC"/>
            </a:solidFill>
            <a:prstDash val="solid"/>
          </a:ln>
          <a:effectLst>
            <a:outerShdw blurRad="101600" dist="38100" dir="2700000" algn="bl" rotWithShape="0">
              <a:srgbClr val="000000">
                <a:alpha val="12000"/>
              </a:srgbClr>
            </a:outerShdw>
          </a:effectLst>
        </p:spPr>
      </p:sp>
      <p:sp>
        <p:nvSpPr>
          <p:cNvPr id="7" name="Text 5"/>
          <p:cNvSpPr/>
          <p:nvPr/>
        </p:nvSpPr>
        <p:spPr>
          <a:xfrm>
            <a:off x="502920" y="1261872"/>
            <a:ext cx="3703320" cy="320040"/>
          </a:xfrm>
          <a:prstGeom prst="rect">
            <a:avLst/>
          </a:prstGeom>
          <a:noFill/>
          <a:ln/>
        </p:spPr>
        <p:txBody>
          <a:bodyPr wrap="square" rtlCol="0" anchor="ctr"/>
          <a:lstStyle/>
          <a:p>
            <a:pPr marL="0" indent="0">
              <a:buNone/>
            </a:pPr>
            <a:r>
              <a:rPr lang="en-US" sz="1200" b="1" dirty="0">
                <a:solidFill>
                  <a:srgbClr val="0D7B8A"/>
                </a:solidFill>
                <a:latin typeface="Calibri" pitchFamily="34" charset="0"/>
                <a:ea typeface="Calibri" pitchFamily="34" charset="-122"/>
                <a:cs typeface="Calibri" pitchFamily="34" charset="-120"/>
              </a:rPr>
              <a:t>What We Learned</a:t>
            </a:r>
            <a:endParaRPr lang="en-US" sz="1200" dirty="0"/>
          </a:p>
        </p:txBody>
      </p:sp>
      <p:sp>
        <p:nvSpPr>
          <p:cNvPr id="8" name="Text 6"/>
          <p:cNvSpPr/>
          <p:nvPr/>
        </p:nvSpPr>
        <p:spPr>
          <a:xfrm>
            <a:off x="502920" y="1600200"/>
            <a:ext cx="3703320" cy="1463040"/>
          </a:xfrm>
          <a:prstGeom prst="rect">
            <a:avLst/>
          </a:prstGeom>
          <a:noFill/>
          <a:ln/>
        </p:spPr>
        <p:txBody>
          <a:bodyPr wrap="square" rtlCol="0" anchor="ctr"/>
          <a:lstStyle/>
          <a:p>
            <a:pPr marL="0" indent="0">
              <a:buNone/>
            </a:pPr>
            <a:r>
              <a:rPr lang="en-US" sz="1100" dirty="0">
                <a:solidFill>
                  <a:srgbClr val="1A2E38"/>
                </a:solidFill>
                <a:latin typeface="Calibri" pitchFamily="34" charset="0"/>
                <a:ea typeface="Calibri" pitchFamily="34" charset="-122"/>
                <a:cs typeface="Calibri" pitchFamily="34" charset="-120"/>
              </a:rPr>
              <a:t>We studied why frameworks exist, the difference between imperative vs declarative UIs, the Virtual DOM, unidirectional data flow, component-driven thinking, and the reconciliation process.</a:t>
            </a:r>
            <a:endParaRPr lang="en-US" sz="1100" dirty="0"/>
          </a:p>
        </p:txBody>
      </p:sp>
      <p:sp>
        <p:nvSpPr>
          <p:cNvPr id="9" name="Shape 7"/>
          <p:cNvSpPr/>
          <p:nvPr/>
        </p:nvSpPr>
        <p:spPr>
          <a:xfrm>
            <a:off x="4572000" y="1188720"/>
            <a:ext cx="4206240" cy="1965960"/>
          </a:xfrm>
          <a:prstGeom prst="roundRect">
            <a:avLst>
              <a:gd name="adj" fmla="val 4651"/>
            </a:avLst>
          </a:prstGeom>
          <a:solidFill>
            <a:srgbClr val="FFFFFF"/>
          </a:solidFill>
          <a:ln w="12700">
            <a:solidFill>
              <a:srgbClr val="C8E8EC"/>
            </a:solidFill>
            <a:prstDash val="solid"/>
          </a:ln>
          <a:effectLst>
            <a:outerShdw blurRad="101600" dist="38100" dir="2700000" algn="bl" rotWithShape="0">
              <a:srgbClr val="000000">
                <a:alpha val="12000"/>
              </a:srgbClr>
            </a:outerShdw>
          </a:effectLst>
        </p:spPr>
      </p:sp>
      <p:sp>
        <p:nvSpPr>
          <p:cNvPr id="10" name="Text 8"/>
          <p:cNvSpPr/>
          <p:nvPr/>
        </p:nvSpPr>
        <p:spPr>
          <a:xfrm>
            <a:off x="4709160" y="1261872"/>
            <a:ext cx="3931920" cy="320040"/>
          </a:xfrm>
          <a:prstGeom prst="rect">
            <a:avLst/>
          </a:prstGeom>
          <a:noFill/>
          <a:ln/>
        </p:spPr>
        <p:txBody>
          <a:bodyPr wrap="square" rtlCol="0" anchor="ctr"/>
          <a:lstStyle/>
          <a:p>
            <a:pPr marL="0" indent="0">
              <a:buNone/>
            </a:pPr>
            <a:r>
              <a:rPr lang="en-US" sz="1200" b="1" dirty="0">
                <a:solidFill>
                  <a:srgbClr val="0D7B8A"/>
                </a:solidFill>
                <a:latin typeface="Calibri" pitchFamily="34" charset="0"/>
                <a:ea typeface="Calibri" pitchFamily="34" charset="-122"/>
                <a:cs typeface="Calibri" pitchFamily="34" charset="-120"/>
              </a:rPr>
              <a:t>How It's In The Project</a:t>
            </a:r>
            <a:endParaRPr lang="en-US" sz="1200" dirty="0"/>
          </a:p>
        </p:txBody>
      </p:sp>
      <p:sp>
        <p:nvSpPr>
          <p:cNvPr id="11" name="Text 9"/>
          <p:cNvSpPr/>
          <p:nvPr/>
        </p:nvSpPr>
        <p:spPr>
          <a:xfrm>
            <a:off x="4709160" y="1600200"/>
            <a:ext cx="3931920" cy="1463040"/>
          </a:xfrm>
          <a:prstGeom prst="rect">
            <a:avLst/>
          </a:prstGeom>
          <a:noFill/>
          <a:ln/>
        </p:spPr>
        <p:txBody>
          <a:bodyPr wrap="square" rtlCol="0" anchor="ctr"/>
          <a:lstStyle/>
          <a:p>
            <a:pPr marL="0" indent="0">
              <a:buNone/>
            </a:pPr>
            <a:r>
              <a:rPr lang="en-US" sz="1100" dirty="0">
                <a:solidFill>
                  <a:srgbClr val="1A2E38"/>
                </a:solidFill>
                <a:latin typeface="Calibri" pitchFamily="34" charset="0"/>
                <a:ea typeface="Calibri" pitchFamily="34" charset="-122"/>
                <a:cs typeface="Calibri" pitchFamily="34" charset="-120"/>
              </a:rPr>
              <a:t>The entire TeleMed UI is built declaratively using React. Every page — Home, Dashboard, Login — is a component. React handles DOM updates via reconciliation whenever state changes. We structured our app with folder-based modules following component-driven architecture.</a:t>
            </a:r>
            <a:endParaRPr lang="en-US" sz="1100" dirty="0"/>
          </a:p>
        </p:txBody>
      </p:sp>
      <p:sp>
        <p:nvSpPr>
          <p:cNvPr id="12" name="Text 10"/>
          <p:cNvSpPr/>
          <p:nvPr/>
        </p:nvSpPr>
        <p:spPr>
          <a:xfrm>
            <a:off x="365760" y="3291840"/>
            <a:ext cx="8412480" cy="274320"/>
          </a:xfrm>
          <a:prstGeom prst="rect">
            <a:avLst/>
          </a:prstGeom>
          <a:noFill/>
          <a:ln/>
        </p:spPr>
        <p:txBody>
          <a:bodyPr wrap="square" rtlCol="0" anchor="ctr"/>
          <a:lstStyle/>
          <a:p>
            <a:pPr marL="0" indent="0">
              <a:buNone/>
            </a:pPr>
            <a:r>
              <a:rPr lang="en-US" sz="1100" b="1" dirty="0">
                <a:solidFill>
                  <a:srgbClr val="5E7A84"/>
                </a:solidFill>
                <a:latin typeface="Calibri" pitchFamily="34" charset="0"/>
                <a:ea typeface="Calibri" pitchFamily="34" charset="-122"/>
                <a:cs typeface="Calibri" pitchFamily="34" charset="-120"/>
              </a:rPr>
              <a:t>Key Components / Files Used:</a:t>
            </a:r>
            <a:endParaRPr lang="en-US" sz="1100" dirty="0"/>
          </a:p>
        </p:txBody>
      </p:sp>
      <p:sp>
        <p:nvSpPr>
          <p:cNvPr id="13" name="Shape 11"/>
          <p:cNvSpPr/>
          <p:nvPr/>
        </p:nvSpPr>
        <p:spPr>
          <a:xfrm>
            <a:off x="365760" y="3611880"/>
            <a:ext cx="2667000" cy="384048"/>
          </a:xfrm>
          <a:prstGeom prst="roundRect">
            <a:avLst>
              <a:gd name="adj" fmla="val 16667"/>
            </a:avLst>
          </a:prstGeom>
          <a:solidFill>
            <a:srgbClr val="0D2B3E"/>
          </a:solidFill>
          <a:ln w="12700">
            <a:solidFill>
              <a:srgbClr val="0D7B8A"/>
            </a:solidFill>
            <a:prstDash val="solid"/>
          </a:ln>
        </p:spPr>
      </p:sp>
      <p:sp>
        <p:nvSpPr>
          <p:cNvPr id="14" name="Text 12"/>
          <p:cNvSpPr/>
          <p:nvPr/>
        </p:nvSpPr>
        <p:spPr>
          <a:xfrm>
            <a:off x="365760" y="3611880"/>
            <a:ext cx="2667000" cy="384048"/>
          </a:xfrm>
          <a:prstGeom prst="rect">
            <a:avLst/>
          </a:prstGeom>
          <a:noFill/>
          <a:ln/>
        </p:spPr>
        <p:txBody>
          <a:bodyPr wrap="square" lIns="0" tIns="0" rIns="0" bIns="0" rtlCol="0" anchor="ctr"/>
          <a:lstStyle/>
          <a:p>
            <a:pPr marL="0" indent="0" algn="ctr">
              <a:buNone/>
            </a:pPr>
            <a:r>
              <a:rPr lang="en-US" sz="1000" dirty="0">
                <a:solidFill>
                  <a:srgbClr val="C8E8EC"/>
                </a:solidFill>
                <a:latin typeface="Calibri" pitchFamily="34" charset="0"/>
                <a:ea typeface="Calibri" pitchFamily="34" charset="-122"/>
                <a:cs typeface="Calibri" pitchFamily="34" charset="-120"/>
              </a:rPr>
              <a:t>App.jsx — root routing</a:t>
            </a:r>
            <a:endParaRPr lang="en-US" sz="1000" dirty="0"/>
          </a:p>
        </p:txBody>
      </p:sp>
      <p:sp>
        <p:nvSpPr>
          <p:cNvPr id="15" name="Shape 13"/>
          <p:cNvSpPr/>
          <p:nvPr/>
        </p:nvSpPr>
        <p:spPr>
          <a:xfrm>
            <a:off x="3169920" y="3611880"/>
            <a:ext cx="2667000" cy="384048"/>
          </a:xfrm>
          <a:prstGeom prst="roundRect">
            <a:avLst>
              <a:gd name="adj" fmla="val 16667"/>
            </a:avLst>
          </a:prstGeom>
          <a:solidFill>
            <a:srgbClr val="0D2B3E"/>
          </a:solidFill>
          <a:ln w="12700">
            <a:solidFill>
              <a:srgbClr val="0D7B8A"/>
            </a:solidFill>
            <a:prstDash val="solid"/>
          </a:ln>
        </p:spPr>
      </p:sp>
      <p:sp>
        <p:nvSpPr>
          <p:cNvPr id="16" name="Text 14"/>
          <p:cNvSpPr/>
          <p:nvPr/>
        </p:nvSpPr>
        <p:spPr>
          <a:xfrm>
            <a:off x="3169920" y="3611880"/>
            <a:ext cx="2667000" cy="384048"/>
          </a:xfrm>
          <a:prstGeom prst="rect">
            <a:avLst/>
          </a:prstGeom>
          <a:noFill/>
          <a:ln/>
        </p:spPr>
        <p:txBody>
          <a:bodyPr wrap="square" lIns="0" tIns="0" rIns="0" bIns="0" rtlCol="0" anchor="ctr"/>
          <a:lstStyle/>
          <a:p>
            <a:pPr marL="0" indent="0" algn="ctr">
              <a:buNone/>
            </a:pPr>
            <a:r>
              <a:rPr lang="en-US" sz="1000" dirty="0">
                <a:solidFill>
                  <a:srgbClr val="C8E8EC"/>
                </a:solidFill>
                <a:latin typeface="Calibri" pitchFamily="34" charset="0"/>
                <a:ea typeface="Calibri" pitchFamily="34" charset="-122"/>
                <a:cs typeface="Calibri" pitchFamily="34" charset="-120"/>
              </a:rPr>
              <a:t>Navbar.jsx — reusable comp</a:t>
            </a:r>
            <a:endParaRPr lang="en-US" sz="1000" dirty="0"/>
          </a:p>
        </p:txBody>
      </p:sp>
      <p:sp>
        <p:nvSpPr>
          <p:cNvPr id="17" name="Shape 15"/>
          <p:cNvSpPr/>
          <p:nvPr/>
        </p:nvSpPr>
        <p:spPr>
          <a:xfrm>
            <a:off x="5974080" y="3611880"/>
            <a:ext cx="2667000" cy="384048"/>
          </a:xfrm>
          <a:prstGeom prst="roundRect">
            <a:avLst>
              <a:gd name="adj" fmla="val 16667"/>
            </a:avLst>
          </a:prstGeom>
          <a:solidFill>
            <a:srgbClr val="0D2B3E"/>
          </a:solidFill>
          <a:ln w="12700">
            <a:solidFill>
              <a:srgbClr val="0D7B8A"/>
            </a:solidFill>
            <a:prstDash val="solid"/>
          </a:ln>
        </p:spPr>
      </p:sp>
      <p:sp>
        <p:nvSpPr>
          <p:cNvPr id="18" name="Text 16"/>
          <p:cNvSpPr/>
          <p:nvPr/>
        </p:nvSpPr>
        <p:spPr>
          <a:xfrm>
            <a:off x="5974080" y="3611880"/>
            <a:ext cx="2667000" cy="384048"/>
          </a:xfrm>
          <a:prstGeom prst="rect">
            <a:avLst/>
          </a:prstGeom>
          <a:noFill/>
          <a:ln/>
        </p:spPr>
        <p:txBody>
          <a:bodyPr wrap="square" lIns="0" tIns="0" rIns="0" bIns="0" rtlCol="0" anchor="ctr"/>
          <a:lstStyle/>
          <a:p>
            <a:pPr marL="0" indent="0" algn="ctr">
              <a:buNone/>
            </a:pPr>
            <a:r>
              <a:rPr lang="en-US" sz="1000" dirty="0">
                <a:solidFill>
                  <a:srgbClr val="C8E8EC"/>
                </a:solidFill>
                <a:latin typeface="Calibri" pitchFamily="34" charset="0"/>
                <a:ea typeface="Calibri" pitchFamily="34" charset="-122"/>
                <a:cs typeface="Calibri" pitchFamily="34" charset="-120"/>
              </a:rPr>
              <a:t>Hero.jsx — declarative layout</a:t>
            </a:r>
            <a:endParaRPr lang="en-US" sz="1000" dirty="0"/>
          </a:p>
        </p:txBody>
      </p:sp>
      <p:sp>
        <p:nvSpPr>
          <p:cNvPr id="19" name="Shape 17"/>
          <p:cNvSpPr/>
          <p:nvPr/>
        </p:nvSpPr>
        <p:spPr>
          <a:xfrm>
            <a:off x="365760" y="4114800"/>
            <a:ext cx="2667000" cy="384048"/>
          </a:xfrm>
          <a:prstGeom prst="roundRect">
            <a:avLst>
              <a:gd name="adj" fmla="val 16667"/>
            </a:avLst>
          </a:prstGeom>
          <a:solidFill>
            <a:srgbClr val="0D2B3E"/>
          </a:solidFill>
          <a:ln w="12700">
            <a:solidFill>
              <a:srgbClr val="0D7B8A"/>
            </a:solidFill>
            <a:prstDash val="solid"/>
          </a:ln>
        </p:spPr>
      </p:sp>
      <p:sp>
        <p:nvSpPr>
          <p:cNvPr id="20" name="Text 18"/>
          <p:cNvSpPr/>
          <p:nvPr/>
        </p:nvSpPr>
        <p:spPr>
          <a:xfrm>
            <a:off x="365760" y="4114800"/>
            <a:ext cx="2667000" cy="384048"/>
          </a:xfrm>
          <a:prstGeom prst="rect">
            <a:avLst/>
          </a:prstGeom>
          <a:noFill/>
          <a:ln/>
        </p:spPr>
        <p:txBody>
          <a:bodyPr wrap="square" lIns="0" tIns="0" rIns="0" bIns="0" rtlCol="0" anchor="ctr"/>
          <a:lstStyle/>
          <a:p>
            <a:pPr marL="0" indent="0" algn="ctr">
              <a:buNone/>
            </a:pPr>
            <a:r>
              <a:rPr lang="en-US" sz="1000" dirty="0">
                <a:solidFill>
                  <a:srgbClr val="C8E8EC"/>
                </a:solidFill>
                <a:latin typeface="Calibri" pitchFamily="34" charset="0"/>
                <a:ea typeface="Calibri" pitchFamily="34" charset="-122"/>
                <a:cs typeface="Calibri" pitchFamily="34" charset="-120"/>
              </a:rPr>
              <a:t>About.jsx / Services.jsx</a:t>
            </a:r>
            <a:endParaRPr lang="en-US" sz="1000" dirty="0"/>
          </a:p>
        </p:txBody>
      </p:sp>
      <p:sp>
        <p:nvSpPr>
          <p:cNvPr id="21" name="Shape 19"/>
          <p:cNvSpPr/>
          <p:nvPr/>
        </p:nvSpPr>
        <p:spPr>
          <a:xfrm>
            <a:off x="3169920" y="4114800"/>
            <a:ext cx="2667000" cy="384048"/>
          </a:xfrm>
          <a:prstGeom prst="roundRect">
            <a:avLst>
              <a:gd name="adj" fmla="val 16667"/>
            </a:avLst>
          </a:prstGeom>
          <a:solidFill>
            <a:srgbClr val="0D2B3E"/>
          </a:solidFill>
          <a:ln w="12700">
            <a:solidFill>
              <a:srgbClr val="0D7B8A"/>
            </a:solidFill>
            <a:prstDash val="solid"/>
          </a:ln>
        </p:spPr>
      </p:sp>
      <p:sp>
        <p:nvSpPr>
          <p:cNvPr id="22" name="Text 20"/>
          <p:cNvSpPr/>
          <p:nvPr/>
        </p:nvSpPr>
        <p:spPr>
          <a:xfrm>
            <a:off x="3169920" y="4114800"/>
            <a:ext cx="2667000" cy="384048"/>
          </a:xfrm>
          <a:prstGeom prst="rect">
            <a:avLst/>
          </a:prstGeom>
          <a:noFill/>
          <a:ln/>
        </p:spPr>
        <p:txBody>
          <a:bodyPr wrap="square" lIns="0" tIns="0" rIns="0" bIns="0" rtlCol="0" anchor="ctr"/>
          <a:lstStyle/>
          <a:p>
            <a:pPr marL="0" indent="0" algn="ctr">
              <a:buNone/>
            </a:pPr>
            <a:r>
              <a:rPr lang="en-US" sz="1000" dirty="0">
                <a:solidFill>
                  <a:srgbClr val="C8E8EC"/>
                </a:solidFill>
                <a:latin typeface="Calibri" pitchFamily="34" charset="0"/>
                <a:ea typeface="Calibri" pitchFamily="34" charset="-122"/>
                <a:cs typeface="Calibri" pitchFamily="34" charset="-120"/>
              </a:rPr>
              <a:t>main.jsx — entry point</a:t>
            </a:r>
            <a:endParaRPr lang="en-US" sz="1000" dirty="0"/>
          </a:p>
        </p:txBody>
      </p:sp>
      <p:sp>
        <p:nvSpPr>
          <p:cNvPr id="23" name="Shape 21"/>
          <p:cNvSpPr/>
          <p:nvPr/>
        </p:nvSpPr>
        <p:spPr>
          <a:xfrm>
            <a:off x="5974080" y="4114800"/>
            <a:ext cx="2667000" cy="384048"/>
          </a:xfrm>
          <a:prstGeom prst="roundRect">
            <a:avLst>
              <a:gd name="adj" fmla="val 16667"/>
            </a:avLst>
          </a:prstGeom>
          <a:solidFill>
            <a:srgbClr val="0D2B3E"/>
          </a:solidFill>
          <a:ln w="12700">
            <a:solidFill>
              <a:srgbClr val="0D7B8A"/>
            </a:solidFill>
            <a:prstDash val="solid"/>
          </a:ln>
        </p:spPr>
      </p:sp>
      <p:sp>
        <p:nvSpPr>
          <p:cNvPr id="24" name="Text 22"/>
          <p:cNvSpPr/>
          <p:nvPr/>
        </p:nvSpPr>
        <p:spPr>
          <a:xfrm>
            <a:off x="5974080" y="4114800"/>
            <a:ext cx="2667000" cy="384048"/>
          </a:xfrm>
          <a:prstGeom prst="rect">
            <a:avLst/>
          </a:prstGeom>
          <a:noFill/>
          <a:ln/>
        </p:spPr>
        <p:txBody>
          <a:bodyPr wrap="square" lIns="0" tIns="0" rIns="0" bIns="0" rtlCol="0" anchor="ctr"/>
          <a:lstStyle/>
          <a:p>
            <a:pPr marL="0" indent="0" algn="ctr">
              <a:buNone/>
            </a:pPr>
            <a:r>
              <a:rPr lang="en-US" sz="1000" dirty="0">
                <a:solidFill>
                  <a:srgbClr val="C8E8EC"/>
                </a:solidFill>
                <a:latin typeface="Calibri" pitchFamily="34" charset="0"/>
                <a:ea typeface="Calibri" pitchFamily="34" charset="-122"/>
                <a:cs typeface="Calibri" pitchFamily="34" charset="-120"/>
              </a:rPr>
              <a:t>index.css — global styles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9FA"/>
        </a:solidFill>
        <a:effectLst/>
      </p:bgPr>
    </p:bg>
    <p:spTree>
      <p:nvGrpSpPr>
        <p:cNvPr id="1" name=""/>
        <p:cNvGrpSpPr/>
        <p:nvPr/>
      </p:nvGrpSpPr>
      <p:grpSpPr>
        <a:xfrm>
          <a:off x="0" y="0"/>
          <a:ext cx="0" cy="0"/>
          <a:chOff x="0" y="0"/>
          <a:chExt cx="0" cy="0"/>
        </a:xfrm>
      </p:grpSpPr>
      <p:sp>
        <p:nvSpPr>
          <p:cNvPr id="2" name="Shape 0"/>
          <p:cNvSpPr/>
          <p:nvPr/>
        </p:nvSpPr>
        <p:spPr>
          <a:xfrm>
            <a:off x="365760" y="228600"/>
            <a:ext cx="8412480" cy="822960"/>
          </a:xfrm>
          <a:prstGeom prst="roundRect">
            <a:avLst>
              <a:gd name="adj" fmla="val 11111"/>
            </a:avLst>
          </a:prstGeom>
          <a:solidFill>
            <a:srgbClr val="0D7B8A"/>
          </a:solidFill>
          <a:ln w="12700">
            <a:solidFill>
              <a:srgbClr val="0D7B8A"/>
            </a:solidFill>
            <a:prstDash val="solid"/>
          </a:ln>
          <a:effectLst>
            <a:outerShdw blurRad="101600" dist="38100" dir="2700000" algn="bl" rotWithShape="0">
              <a:srgbClr val="000000">
                <a:alpha val="12000"/>
              </a:srgbClr>
            </a:outerShdw>
          </a:effectLst>
        </p:spPr>
      </p:sp>
      <p:sp>
        <p:nvSpPr>
          <p:cNvPr id="3" name="Shape 1"/>
          <p:cNvSpPr/>
          <p:nvPr/>
        </p:nvSpPr>
        <p:spPr>
          <a:xfrm>
            <a:off x="365760" y="228600"/>
            <a:ext cx="914400" cy="822960"/>
          </a:xfrm>
          <a:prstGeom prst="roundRect">
            <a:avLst>
              <a:gd name="adj" fmla="val 11111"/>
            </a:avLst>
          </a:prstGeom>
          <a:solidFill>
            <a:srgbClr val="0D2B3E"/>
          </a:solidFill>
          <a:ln w="12700">
            <a:solidFill>
              <a:srgbClr val="0D2B3E"/>
            </a:solidFill>
            <a:prstDash val="solid"/>
          </a:ln>
        </p:spPr>
      </p:sp>
      <p:sp>
        <p:nvSpPr>
          <p:cNvPr id="4" name="Text 2"/>
          <p:cNvSpPr/>
          <p:nvPr/>
        </p:nvSpPr>
        <p:spPr>
          <a:xfrm>
            <a:off x="365760" y="228600"/>
            <a:ext cx="91440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CO2</a:t>
            </a:r>
            <a:endParaRPr lang="en-US" sz="2200" dirty="0"/>
          </a:p>
        </p:txBody>
      </p:sp>
      <p:sp>
        <p:nvSpPr>
          <p:cNvPr id="5" name="Text 3"/>
          <p:cNvSpPr/>
          <p:nvPr/>
        </p:nvSpPr>
        <p:spPr>
          <a:xfrm>
            <a:off x="1417320" y="228600"/>
            <a:ext cx="7223760" cy="82296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JavaScript &amp; TypeScript Engineering for Frameworks</a:t>
            </a:r>
            <a:endParaRPr lang="en-US" sz="1800" dirty="0"/>
          </a:p>
        </p:txBody>
      </p:sp>
      <p:sp>
        <p:nvSpPr>
          <p:cNvPr id="6" name="Shape 4"/>
          <p:cNvSpPr/>
          <p:nvPr/>
        </p:nvSpPr>
        <p:spPr>
          <a:xfrm>
            <a:off x="365760" y="1188720"/>
            <a:ext cx="3977640" cy="1965960"/>
          </a:xfrm>
          <a:prstGeom prst="roundRect">
            <a:avLst>
              <a:gd name="adj" fmla="val 4651"/>
            </a:avLst>
          </a:prstGeom>
          <a:solidFill>
            <a:srgbClr val="FFFFFF"/>
          </a:solidFill>
          <a:ln w="12700">
            <a:solidFill>
              <a:srgbClr val="C8E8EC"/>
            </a:solidFill>
            <a:prstDash val="solid"/>
          </a:ln>
          <a:effectLst>
            <a:outerShdw blurRad="101600" dist="38100" dir="2700000" algn="bl" rotWithShape="0">
              <a:srgbClr val="000000">
                <a:alpha val="12000"/>
              </a:srgbClr>
            </a:outerShdw>
          </a:effectLst>
        </p:spPr>
      </p:sp>
      <p:sp>
        <p:nvSpPr>
          <p:cNvPr id="7" name="Text 5"/>
          <p:cNvSpPr/>
          <p:nvPr/>
        </p:nvSpPr>
        <p:spPr>
          <a:xfrm>
            <a:off x="502920" y="1261872"/>
            <a:ext cx="3703320" cy="320040"/>
          </a:xfrm>
          <a:prstGeom prst="rect">
            <a:avLst/>
          </a:prstGeom>
          <a:noFill/>
          <a:ln/>
        </p:spPr>
        <p:txBody>
          <a:bodyPr wrap="square" rtlCol="0" anchor="ctr"/>
          <a:lstStyle/>
          <a:p>
            <a:pPr marL="0" indent="0">
              <a:buNone/>
            </a:pPr>
            <a:r>
              <a:rPr lang="en-US" sz="1200" b="1" dirty="0">
                <a:solidFill>
                  <a:srgbClr val="0D7B8A"/>
                </a:solidFill>
                <a:latin typeface="Calibri" pitchFamily="34" charset="0"/>
                <a:ea typeface="Calibri" pitchFamily="34" charset="-122"/>
                <a:cs typeface="Calibri" pitchFamily="34" charset="-120"/>
              </a:rPr>
              <a:t>What We Learned</a:t>
            </a:r>
            <a:endParaRPr lang="en-US" sz="1200" dirty="0"/>
          </a:p>
        </p:txBody>
      </p:sp>
      <p:sp>
        <p:nvSpPr>
          <p:cNvPr id="8" name="Text 6"/>
          <p:cNvSpPr/>
          <p:nvPr/>
        </p:nvSpPr>
        <p:spPr>
          <a:xfrm>
            <a:off x="502920" y="1600200"/>
            <a:ext cx="3703320" cy="1463040"/>
          </a:xfrm>
          <a:prstGeom prst="rect">
            <a:avLst/>
          </a:prstGeom>
          <a:noFill/>
          <a:ln/>
        </p:spPr>
        <p:txBody>
          <a:bodyPr wrap="square" rtlCol="0" anchor="ctr"/>
          <a:lstStyle/>
          <a:p>
            <a:pPr marL="0" indent="0">
              <a:buNone/>
            </a:pPr>
            <a:r>
              <a:rPr lang="en-US" sz="1100" dirty="0">
                <a:solidFill>
                  <a:srgbClr val="1A2E38"/>
                </a:solidFill>
                <a:latin typeface="Calibri" pitchFamily="34" charset="0"/>
                <a:ea typeface="Calibri" pitchFamily="34" charset="-122"/>
                <a:cs typeface="Calibri" pitchFamily="34" charset="-120"/>
              </a:rPr>
              <a:t>ES6+ features like arrow functions, destructuring, template literals, and async/await. Closures for state management, functional programming patterns (pure functions, immutability), module patterns (import/export), and promise chains for async UI updates.</a:t>
            </a:r>
            <a:endParaRPr lang="en-US" sz="1100" dirty="0"/>
          </a:p>
        </p:txBody>
      </p:sp>
      <p:sp>
        <p:nvSpPr>
          <p:cNvPr id="9" name="Shape 7"/>
          <p:cNvSpPr/>
          <p:nvPr/>
        </p:nvSpPr>
        <p:spPr>
          <a:xfrm>
            <a:off x="4572000" y="1188720"/>
            <a:ext cx="4206240" cy="1965960"/>
          </a:xfrm>
          <a:prstGeom prst="roundRect">
            <a:avLst>
              <a:gd name="adj" fmla="val 4651"/>
            </a:avLst>
          </a:prstGeom>
          <a:solidFill>
            <a:srgbClr val="FFFFFF"/>
          </a:solidFill>
          <a:ln w="12700">
            <a:solidFill>
              <a:srgbClr val="C8E8EC"/>
            </a:solidFill>
            <a:prstDash val="solid"/>
          </a:ln>
          <a:effectLst>
            <a:outerShdw blurRad="101600" dist="38100" dir="2700000" algn="bl" rotWithShape="0">
              <a:srgbClr val="000000">
                <a:alpha val="12000"/>
              </a:srgbClr>
            </a:outerShdw>
          </a:effectLst>
        </p:spPr>
      </p:sp>
      <p:sp>
        <p:nvSpPr>
          <p:cNvPr id="10" name="Text 8"/>
          <p:cNvSpPr/>
          <p:nvPr/>
        </p:nvSpPr>
        <p:spPr>
          <a:xfrm>
            <a:off x="4709160" y="1261872"/>
            <a:ext cx="3931920" cy="320040"/>
          </a:xfrm>
          <a:prstGeom prst="rect">
            <a:avLst/>
          </a:prstGeom>
          <a:noFill/>
          <a:ln/>
        </p:spPr>
        <p:txBody>
          <a:bodyPr wrap="square" rtlCol="0" anchor="ctr"/>
          <a:lstStyle/>
          <a:p>
            <a:pPr marL="0" indent="0">
              <a:buNone/>
            </a:pPr>
            <a:r>
              <a:rPr lang="en-US" sz="1200" b="1" dirty="0">
                <a:solidFill>
                  <a:srgbClr val="0D7B8A"/>
                </a:solidFill>
                <a:latin typeface="Calibri" pitchFamily="34" charset="0"/>
                <a:ea typeface="Calibri" pitchFamily="34" charset="-122"/>
                <a:cs typeface="Calibri" pitchFamily="34" charset="-120"/>
              </a:rPr>
              <a:t>How It's In The Project</a:t>
            </a:r>
            <a:endParaRPr lang="en-US" sz="1200" dirty="0"/>
          </a:p>
        </p:txBody>
      </p:sp>
      <p:sp>
        <p:nvSpPr>
          <p:cNvPr id="11" name="Text 9"/>
          <p:cNvSpPr/>
          <p:nvPr/>
        </p:nvSpPr>
        <p:spPr>
          <a:xfrm>
            <a:off x="4709160" y="1600200"/>
            <a:ext cx="3931920" cy="1463040"/>
          </a:xfrm>
          <a:prstGeom prst="rect">
            <a:avLst/>
          </a:prstGeom>
          <a:noFill/>
          <a:ln/>
        </p:spPr>
        <p:txBody>
          <a:bodyPr wrap="square" rtlCol="0" anchor="ctr"/>
          <a:lstStyle/>
          <a:p>
            <a:pPr marL="0" indent="0">
              <a:buNone/>
            </a:pPr>
            <a:r>
              <a:rPr lang="en-US" sz="1100" dirty="0">
                <a:solidFill>
                  <a:srgbClr val="1A2E38"/>
                </a:solidFill>
                <a:latin typeface="Calibri" pitchFamily="34" charset="0"/>
                <a:ea typeface="Calibri" pitchFamily="34" charset="-122"/>
                <a:cs typeface="Calibri" pitchFamily="34" charset="-120"/>
              </a:rPr>
              <a:t>We used async/await for form handling in Login/Signup, destructuring for props throughout components, closures inside hooks like useState and useEffect, and modular imports across all components. Error boundaries were handled with try/catch in auth logic.</a:t>
            </a:r>
            <a:endParaRPr lang="en-US" sz="1100" dirty="0"/>
          </a:p>
        </p:txBody>
      </p:sp>
      <p:sp>
        <p:nvSpPr>
          <p:cNvPr id="12" name="Text 10"/>
          <p:cNvSpPr/>
          <p:nvPr/>
        </p:nvSpPr>
        <p:spPr>
          <a:xfrm>
            <a:off x="365760" y="3291840"/>
            <a:ext cx="8412480" cy="274320"/>
          </a:xfrm>
          <a:prstGeom prst="rect">
            <a:avLst/>
          </a:prstGeom>
          <a:noFill/>
          <a:ln/>
        </p:spPr>
        <p:txBody>
          <a:bodyPr wrap="square" rtlCol="0" anchor="ctr"/>
          <a:lstStyle/>
          <a:p>
            <a:pPr marL="0" indent="0">
              <a:buNone/>
            </a:pPr>
            <a:r>
              <a:rPr lang="en-US" sz="1100" b="1" dirty="0">
                <a:solidFill>
                  <a:srgbClr val="5E7A84"/>
                </a:solidFill>
                <a:latin typeface="Calibri" pitchFamily="34" charset="0"/>
                <a:ea typeface="Calibri" pitchFamily="34" charset="-122"/>
                <a:cs typeface="Calibri" pitchFamily="34" charset="-120"/>
              </a:rPr>
              <a:t>Key Components / Files Used:</a:t>
            </a:r>
            <a:endParaRPr lang="en-US" sz="1100" dirty="0"/>
          </a:p>
        </p:txBody>
      </p:sp>
      <p:sp>
        <p:nvSpPr>
          <p:cNvPr id="13" name="Shape 11"/>
          <p:cNvSpPr/>
          <p:nvPr/>
        </p:nvSpPr>
        <p:spPr>
          <a:xfrm>
            <a:off x="365760" y="3611880"/>
            <a:ext cx="2667000" cy="384048"/>
          </a:xfrm>
          <a:prstGeom prst="roundRect">
            <a:avLst>
              <a:gd name="adj" fmla="val 16667"/>
            </a:avLst>
          </a:prstGeom>
          <a:solidFill>
            <a:srgbClr val="0D2B3E"/>
          </a:solidFill>
          <a:ln w="12700">
            <a:solidFill>
              <a:srgbClr val="0D7B8A"/>
            </a:solidFill>
            <a:prstDash val="solid"/>
          </a:ln>
        </p:spPr>
      </p:sp>
      <p:sp>
        <p:nvSpPr>
          <p:cNvPr id="14" name="Text 12"/>
          <p:cNvSpPr/>
          <p:nvPr/>
        </p:nvSpPr>
        <p:spPr>
          <a:xfrm>
            <a:off x="365760" y="3611880"/>
            <a:ext cx="2667000" cy="384048"/>
          </a:xfrm>
          <a:prstGeom prst="rect">
            <a:avLst/>
          </a:prstGeom>
          <a:noFill/>
          <a:ln/>
        </p:spPr>
        <p:txBody>
          <a:bodyPr wrap="square" lIns="0" tIns="0" rIns="0" bIns="0" rtlCol="0" anchor="ctr"/>
          <a:lstStyle/>
          <a:p>
            <a:pPr marL="0" indent="0" algn="ctr">
              <a:buNone/>
            </a:pPr>
            <a:r>
              <a:rPr lang="en-US" sz="1000" dirty="0">
                <a:solidFill>
                  <a:srgbClr val="C8E8EC"/>
                </a:solidFill>
                <a:latin typeface="Calibri" pitchFamily="34" charset="0"/>
                <a:ea typeface="Calibri" pitchFamily="34" charset="-122"/>
                <a:cs typeface="Calibri" pitchFamily="34" charset="-120"/>
              </a:rPr>
              <a:t>Login.jsx — async form handling</a:t>
            </a:r>
            <a:endParaRPr lang="en-US" sz="1000" dirty="0"/>
          </a:p>
        </p:txBody>
      </p:sp>
      <p:sp>
        <p:nvSpPr>
          <p:cNvPr id="15" name="Shape 13"/>
          <p:cNvSpPr/>
          <p:nvPr/>
        </p:nvSpPr>
        <p:spPr>
          <a:xfrm>
            <a:off x="3169920" y="3611880"/>
            <a:ext cx="2667000" cy="384048"/>
          </a:xfrm>
          <a:prstGeom prst="roundRect">
            <a:avLst>
              <a:gd name="adj" fmla="val 16667"/>
            </a:avLst>
          </a:prstGeom>
          <a:solidFill>
            <a:srgbClr val="0D2B3E"/>
          </a:solidFill>
          <a:ln w="12700">
            <a:solidFill>
              <a:srgbClr val="0D7B8A"/>
            </a:solidFill>
            <a:prstDash val="solid"/>
          </a:ln>
        </p:spPr>
      </p:sp>
      <p:sp>
        <p:nvSpPr>
          <p:cNvPr id="16" name="Text 14"/>
          <p:cNvSpPr/>
          <p:nvPr/>
        </p:nvSpPr>
        <p:spPr>
          <a:xfrm>
            <a:off x="3169920" y="3611880"/>
            <a:ext cx="2667000" cy="384048"/>
          </a:xfrm>
          <a:prstGeom prst="rect">
            <a:avLst/>
          </a:prstGeom>
          <a:noFill/>
          <a:ln/>
        </p:spPr>
        <p:txBody>
          <a:bodyPr wrap="square" lIns="0" tIns="0" rIns="0" bIns="0" rtlCol="0" anchor="ctr"/>
          <a:lstStyle/>
          <a:p>
            <a:pPr marL="0" indent="0" algn="ctr">
              <a:buNone/>
            </a:pPr>
            <a:r>
              <a:rPr lang="en-US" sz="1000" dirty="0">
                <a:solidFill>
                  <a:srgbClr val="C8E8EC"/>
                </a:solidFill>
                <a:latin typeface="Calibri" pitchFamily="34" charset="0"/>
                <a:ea typeface="Calibri" pitchFamily="34" charset="-122"/>
                <a:cs typeface="Calibri" pitchFamily="34" charset="-120"/>
              </a:rPr>
              <a:t>Signup.jsx — destructured props</a:t>
            </a:r>
            <a:endParaRPr lang="en-US" sz="1000" dirty="0"/>
          </a:p>
        </p:txBody>
      </p:sp>
      <p:sp>
        <p:nvSpPr>
          <p:cNvPr id="17" name="Shape 15"/>
          <p:cNvSpPr/>
          <p:nvPr/>
        </p:nvSpPr>
        <p:spPr>
          <a:xfrm>
            <a:off x="5974080" y="3611880"/>
            <a:ext cx="2667000" cy="384048"/>
          </a:xfrm>
          <a:prstGeom prst="roundRect">
            <a:avLst>
              <a:gd name="adj" fmla="val 16667"/>
            </a:avLst>
          </a:prstGeom>
          <a:solidFill>
            <a:srgbClr val="0D2B3E"/>
          </a:solidFill>
          <a:ln w="12700">
            <a:solidFill>
              <a:srgbClr val="0D7B8A"/>
            </a:solidFill>
            <a:prstDash val="solid"/>
          </a:ln>
        </p:spPr>
      </p:sp>
      <p:sp>
        <p:nvSpPr>
          <p:cNvPr id="18" name="Text 16"/>
          <p:cNvSpPr/>
          <p:nvPr/>
        </p:nvSpPr>
        <p:spPr>
          <a:xfrm>
            <a:off x="5974080" y="3611880"/>
            <a:ext cx="2667000" cy="384048"/>
          </a:xfrm>
          <a:prstGeom prst="rect">
            <a:avLst/>
          </a:prstGeom>
          <a:noFill/>
          <a:ln/>
        </p:spPr>
        <p:txBody>
          <a:bodyPr wrap="square" lIns="0" tIns="0" rIns="0" bIns="0" rtlCol="0" anchor="ctr"/>
          <a:lstStyle/>
          <a:p>
            <a:pPr marL="0" indent="0" algn="ctr">
              <a:buNone/>
            </a:pPr>
            <a:r>
              <a:rPr lang="en-US" sz="1000" dirty="0">
                <a:solidFill>
                  <a:srgbClr val="C8E8EC"/>
                </a:solidFill>
                <a:latin typeface="Calibri" pitchFamily="34" charset="0"/>
                <a:ea typeface="Calibri" pitchFamily="34" charset="-122"/>
                <a:cs typeface="Calibri" pitchFamily="34" charset="-120"/>
              </a:rPr>
              <a:t>Dashboard.jsx — module imports</a:t>
            </a:r>
            <a:endParaRPr lang="en-US" sz="1000" dirty="0"/>
          </a:p>
        </p:txBody>
      </p:sp>
      <p:sp>
        <p:nvSpPr>
          <p:cNvPr id="19" name="Shape 17"/>
          <p:cNvSpPr/>
          <p:nvPr/>
        </p:nvSpPr>
        <p:spPr>
          <a:xfrm>
            <a:off x="365760" y="4114800"/>
            <a:ext cx="2667000" cy="384048"/>
          </a:xfrm>
          <a:prstGeom prst="roundRect">
            <a:avLst>
              <a:gd name="adj" fmla="val 16667"/>
            </a:avLst>
          </a:prstGeom>
          <a:solidFill>
            <a:srgbClr val="0D2B3E"/>
          </a:solidFill>
          <a:ln w="12700">
            <a:solidFill>
              <a:srgbClr val="0D7B8A"/>
            </a:solidFill>
            <a:prstDash val="solid"/>
          </a:ln>
        </p:spPr>
      </p:sp>
      <p:sp>
        <p:nvSpPr>
          <p:cNvPr id="20" name="Text 18"/>
          <p:cNvSpPr/>
          <p:nvPr/>
        </p:nvSpPr>
        <p:spPr>
          <a:xfrm>
            <a:off x="365760" y="4114800"/>
            <a:ext cx="2667000" cy="384048"/>
          </a:xfrm>
          <a:prstGeom prst="rect">
            <a:avLst/>
          </a:prstGeom>
          <a:noFill/>
          <a:ln/>
        </p:spPr>
        <p:txBody>
          <a:bodyPr wrap="square" lIns="0" tIns="0" rIns="0" bIns="0" rtlCol="0" anchor="ctr"/>
          <a:lstStyle/>
          <a:p>
            <a:pPr marL="0" indent="0" algn="ctr">
              <a:buNone/>
            </a:pPr>
            <a:r>
              <a:rPr lang="en-US" sz="1000" dirty="0">
                <a:solidFill>
                  <a:srgbClr val="C8E8EC"/>
                </a:solidFill>
                <a:latin typeface="Calibri" pitchFamily="34" charset="0"/>
                <a:ea typeface="Calibri" pitchFamily="34" charset="-122"/>
                <a:cs typeface="Calibri" pitchFamily="34" charset="-120"/>
              </a:rPr>
              <a:t>BookAppointment.jsx — promises</a:t>
            </a:r>
            <a:endParaRPr lang="en-US" sz="1000" dirty="0"/>
          </a:p>
        </p:txBody>
      </p:sp>
      <p:sp>
        <p:nvSpPr>
          <p:cNvPr id="21" name="Shape 19"/>
          <p:cNvSpPr/>
          <p:nvPr/>
        </p:nvSpPr>
        <p:spPr>
          <a:xfrm>
            <a:off x="3169920" y="4114800"/>
            <a:ext cx="2667000" cy="384048"/>
          </a:xfrm>
          <a:prstGeom prst="roundRect">
            <a:avLst>
              <a:gd name="adj" fmla="val 16667"/>
            </a:avLst>
          </a:prstGeom>
          <a:solidFill>
            <a:srgbClr val="0D2B3E"/>
          </a:solidFill>
          <a:ln w="12700">
            <a:solidFill>
              <a:srgbClr val="0D7B8A"/>
            </a:solidFill>
            <a:prstDash val="solid"/>
          </a:ln>
        </p:spPr>
      </p:sp>
      <p:sp>
        <p:nvSpPr>
          <p:cNvPr id="22" name="Text 20"/>
          <p:cNvSpPr/>
          <p:nvPr/>
        </p:nvSpPr>
        <p:spPr>
          <a:xfrm>
            <a:off x="3169920" y="4114800"/>
            <a:ext cx="2667000" cy="384048"/>
          </a:xfrm>
          <a:prstGeom prst="rect">
            <a:avLst/>
          </a:prstGeom>
          <a:noFill/>
          <a:ln/>
        </p:spPr>
        <p:txBody>
          <a:bodyPr wrap="square" lIns="0" tIns="0" rIns="0" bIns="0" rtlCol="0" anchor="ctr"/>
          <a:lstStyle/>
          <a:p>
            <a:pPr marL="0" indent="0" algn="ctr">
              <a:buNone/>
            </a:pPr>
            <a:r>
              <a:rPr lang="en-US" sz="1000" dirty="0">
                <a:solidFill>
                  <a:srgbClr val="C8E8EC"/>
                </a:solidFill>
                <a:latin typeface="Calibri" pitchFamily="34" charset="0"/>
                <a:ea typeface="Calibri" pitchFamily="34" charset="-122"/>
                <a:cs typeface="Calibri" pitchFamily="34" charset="-120"/>
              </a:rPr>
              <a:t>useState/useEffect patterns</a:t>
            </a:r>
            <a:endParaRPr lang="en-US" sz="1000" dirty="0"/>
          </a:p>
        </p:txBody>
      </p:sp>
      <p:sp>
        <p:nvSpPr>
          <p:cNvPr id="23" name="Shape 21"/>
          <p:cNvSpPr/>
          <p:nvPr/>
        </p:nvSpPr>
        <p:spPr>
          <a:xfrm>
            <a:off x="5974080" y="4114800"/>
            <a:ext cx="2667000" cy="384048"/>
          </a:xfrm>
          <a:prstGeom prst="roundRect">
            <a:avLst>
              <a:gd name="adj" fmla="val 16667"/>
            </a:avLst>
          </a:prstGeom>
          <a:solidFill>
            <a:srgbClr val="0D2B3E"/>
          </a:solidFill>
          <a:ln w="12700">
            <a:solidFill>
              <a:srgbClr val="0D7B8A"/>
            </a:solidFill>
            <a:prstDash val="solid"/>
          </a:ln>
        </p:spPr>
      </p:sp>
      <p:sp>
        <p:nvSpPr>
          <p:cNvPr id="24" name="Text 22"/>
          <p:cNvSpPr/>
          <p:nvPr/>
        </p:nvSpPr>
        <p:spPr>
          <a:xfrm>
            <a:off x="5974080" y="4114800"/>
            <a:ext cx="2667000" cy="384048"/>
          </a:xfrm>
          <a:prstGeom prst="rect">
            <a:avLst/>
          </a:prstGeom>
          <a:noFill/>
          <a:ln/>
        </p:spPr>
        <p:txBody>
          <a:bodyPr wrap="square" lIns="0" tIns="0" rIns="0" bIns="0" rtlCol="0" anchor="ctr"/>
          <a:lstStyle/>
          <a:p>
            <a:pPr marL="0" indent="0" algn="ctr">
              <a:buNone/>
            </a:pPr>
            <a:r>
              <a:rPr lang="en-US" sz="1000" dirty="0">
                <a:solidFill>
                  <a:srgbClr val="C8E8EC"/>
                </a:solidFill>
                <a:latin typeface="Calibri" pitchFamily="34" charset="0"/>
                <a:ea typeface="Calibri" pitchFamily="34" charset="-122"/>
                <a:cs typeface="Calibri" pitchFamily="34" charset="-120"/>
              </a:rPr>
              <a:t>ES6 arrow functions throughout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9FA"/>
        </a:solidFill>
        <a:effectLst/>
      </p:bgPr>
    </p:bg>
    <p:spTree>
      <p:nvGrpSpPr>
        <p:cNvPr id="1" name=""/>
        <p:cNvGrpSpPr/>
        <p:nvPr/>
      </p:nvGrpSpPr>
      <p:grpSpPr>
        <a:xfrm>
          <a:off x="0" y="0"/>
          <a:ext cx="0" cy="0"/>
          <a:chOff x="0" y="0"/>
          <a:chExt cx="0" cy="0"/>
        </a:xfrm>
      </p:grpSpPr>
      <p:sp>
        <p:nvSpPr>
          <p:cNvPr id="2" name="Shape 0"/>
          <p:cNvSpPr/>
          <p:nvPr/>
        </p:nvSpPr>
        <p:spPr>
          <a:xfrm>
            <a:off x="365760" y="228600"/>
            <a:ext cx="8412480" cy="822960"/>
          </a:xfrm>
          <a:prstGeom prst="roundRect">
            <a:avLst>
              <a:gd name="adj" fmla="val 11111"/>
            </a:avLst>
          </a:prstGeom>
          <a:solidFill>
            <a:srgbClr val="0D7B8A"/>
          </a:solidFill>
          <a:ln w="12700">
            <a:solidFill>
              <a:srgbClr val="0D7B8A"/>
            </a:solidFill>
            <a:prstDash val="solid"/>
          </a:ln>
          <a:effectLst>
            <a:outerShdw blurRad="101600" dist="38100" dir="2700000" algn="bl" rotWithShape="0">
              <a:srgbClr val="000000">
                <a:alpha val="12000"/>
              </a:srgbClr>
            </a:outerShdw>
          </a:effectLst>
        </p:spPr>
      </p:sp>
      <p:sp>
        <p:nvSpPr>
          <p:cNvPr id="3" name="Shape 1"/>
          <p:cNvSpPr/>
          <p:nvPr/>
        </p:nvSpPr>
        <p:spPr>
          <a:xfrm>
            <a:off x="365760" y="228600"/>
            <a:ext cx="914400" cy="822960"/>
          </a:xfrm>
          <a:prstGeom prst="roundRect">
            <a:avLst>
              <a:gd name="adj" fmla="val 11111"/>
            </a:avLst>
          </a:prstGeom>
          <a:solidFill>
            <a:srgbClr val="0D2B3E"/>
          </a:solidFill>
          <a:ln w="12700">
            <a:solidFill>
              <a:srgbClr val="0D2B3E"/>
            </a:solidFill>
            <a:prstDash val="solid"/>
          </a:ln>
        </p:spPr>
      </p:sp>
      <p:sp>
        <p:nvSpPr>
          <p:cNvPr id="4" name="Text 2"/>
          <p:cNvSpPr/>
          <p:nvPr/>
        </p:nvSpPr>
        <p:spPr>
          <a:xfrm>
            <a:off x="365760" y="228600"/>
            <a:ext cx="91440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CO3</a:t>
            </a:r>
            <a:endParaRPr lang="en-US" sz="2200" dirty="0"/>
          </a:p>
        </p:txBody>
      </p:sp>
      <p:sp>
        <p:nvSpPr>
          <p:cNvPr id="5" name="Text 3"/>
          <p:cNvSpPr/>
          <p:nvPr/>
        </p:nvSpPr>
        <p:spPr>
          <a:xfrm>
            <a:off x="1417320" y="228600"/>
            <a:ext cx="7223760" cy="82296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React Component Model (Engineering View)</a:t>
            </a:r>
            <a:endParaRPr lang="en-US" sz="1800" dirty="0"/>
          </a:p>
        </p:txBody>
      </p:sp>
      <p:sp>
        <p:nvSpPr>
          <p:cNvPr id="6" name="Shape 4"/>
          <p:cNvSpPr/>
          <p:nvPr/>
        </p:nvSpPr>
        <p:spPr>
          <a:xfrm>
            <a:off x="365760" y="1188720"/>
            <a:ext cx="3977640" cy="1965960"/>
          </a:xfrm>
          <a:prstGeom prst="roundRect">
            <a:avLst>
              <a:gd name="adj" fmla="val 4651"/>
            </a:avLst>
          </a:prstGeom>
          <a:solidFill>
            <a:srgbClr val="FFFFFF"/>
          </a:solidFill>
          <a:ln w="12700">
            <a:solidFill>
              <a:srgbClr val="C8E8EC"/>
            </a:solidFill>
            <a:prstDash val="solid"/>
          </a:ln>
          <a:effectLst>
            <a:outerShdw blurRad="101600" dist="38100" dir="2700000" algn="bl" rotWithShape="0">
              <a:srgbClr val="000000">
                <a:alpha val="12000"/>
              </a:srgbClr>
            </a:outerShdw>
          </a:effectLst>
        </p:spPr>
      </p:sp>
      <p:sp>
        <p:nvSpPr>
          <p:cNvPr id="7" name="Text 5"/>
          <p:cNvSpPr/>
          <p:nvPr/>
        </p:nvSpPr>
        <p:spPr>
          <a:xfrm>
            <a:off x="502920" y="1261872"/>
            <a:ext cx="3703320" cy="320040"/>
          </a:xfrm>
          <a:prstGeom prst="rect">
            <a:avLst/>
          </a:prstGeom>
          <a:noFill/>
          <a:ln/>
        </p:spPr>
        <p:txBody>
          <a:bodyPr wrap="square" rtlCol="0" anchor="ctr"/>
          <a:lstStyle/>
          <a:p>
            <a:pPr marL="0" indent="0">
              <a:buNone/>
            </a:pPr>
            <a:r>
              <a:rPr lang="en-US" sz="1200" b="1" dirty="0">
                <a:solidFill>
                  <a:srgbClr val="0D7B8A"/>
                </a:solidFill>
                <a:latin typeface="Calibri" pitchFamily="34" charset="0"/>
                <a:ea typeface="Calibri" pitchFamily="34" charset="-122"/>
                <a:cs typeface="Calibri" pitchFamily="34" charset="-120"/>
              </a:rPr>
              <a:t>What We Learned</a:t>
            </a:r>
            <a:endParaRPr lang="en-US" sz="1200" dirty="0"/>
          </a:p>
        </p:txBody>
      </p:sp>
      <p:sp>
        <p:nvSpPr>
          <p:cNvPr id="8" name="Text 6"/>
          <p:cNvSpPr/>
          <p:nvPr/>
        </p:nvSpPr>
        <p:spPr>
          <a:xfrm>
            <a:off x="502920" y="1600200"/>
            <a:ext cx="3703320" cy="1463040"/>
          </a:xfrm>
          <a:prstGeom prst="rect">
            <a:avLst/>
          </a:prstGeom>
          <a:noFill/>
          <a:ln/>
        </p:spPr>
        <p:txBody>
          <a:bodyPr wrap="square" rtlCol="0" anchor="ctr"/>
          <a:lstStyle/>
          <a:p>
            <a:pPr marL="0" indent="0">
              <a:buNone/>
            </a:pPr>
            <a:r>
              <a:rPr lang="en-US" sz="1100" dirty="0">
                <a:solidFill>
                  <a:srgbClr val="1A2E38"/>
                </a:solidFill>
                <a:latin typeface="Calibri" pitchFamily="34" charset="0"/>
                <a:ea typeface="Calibri" pitchFamily="34" charset="-122"/>
                <a:cs typeface="Calibri" pitchFamily="34" charset="-120"/>
              </a:rPr>
              <a:t>Components as deterministic UI functions, props as configuration contracts, state as runtime dynamic data, hooks as lifecycle abstractions, reconciliation mechanics, controlled vs uncontrolled UI, composition patterns, and styling approaches like CSS Modules and Tailwind.</a:t>
            </a:r>
            <a:endParaRPr lang="en-US" sz="1100" dirty="0"/>
          </a:p>
        </p:txBody>
      </p:sp>
      <p:sp>
        <p:nvSpPr>
          <p:cNvPr id="9" name="Shape 7"/>
          <p:cNvSpPr/>
          <p:nvPr/>
        </p:nvSpPr>
        <p:spPr>
          <a:xfrm>
            <a:off x="4572000" y="1188720"/>
            <a:ext cx="4206240" cy="1965960"/>
          </a:xfrm>
          <a:prstGeom prst="roundRect">
            <a:avLst>
              <a:gd name="adj" fmla="val 4651"/>
            </a:avLst>
          </a:prstGeom>
          <a:solidFill>
            <a:srgbClr val="FFFFFF"/>
          </a:solidFill>
          <a:ln w="12700">
            <a:solidFill>
              <a:srgbClr val="C8E8EC"/>
            </a:solidFill>
            <a:prstDash val="solid"/>
          </a:ln>
          <a:effectLst>
            <a:outerShdw blurRad="101600" dist="38100" dir="2700000" algn="bl" rotWithShape="0">
              <a:srgbClr val="000000">
                <a:alpha val="12000"/>
              </a:srgbClr>
            </a:outerShdw>
          </a:effectLst>
        </p:spPr>
      </p:sp>
      <p:sp>
        <p:nvSpPr>
          <p:cNvPr id="10" name="Text 8"/>
          <p:cNvSpPr/>
          <p:nvPr/>
        </p:nvSpPr>
        <p:spPr>
          <a:xfrm>
            <a:off x="4709160" y="1261872"/>
            <a:ext cx="3931920" cy="320040"/>
          </a:xfrm>
          <a:prstGeom prst="rect">
            <a:avLst/>
          </a:prstGeom>
          <a:noFill/>
          <a:ln/>
        </p:spPr>
        <p:txBody>
          <a:bodyPr wrap="square" rtlCol="0" anchor="ctr"/>
          <a:lstStyle/>
          <a:p>
            <a:pPr marL="0" indent="0">
              <a:buNone/>
            </a:pPr>
            <a:r>
              <a:rPr lang="en-US" sz="1200" b="1" dirty="0">
                <a:solidFill>
                  <a:srgbClr val="0D7B8A"/>
                </a:solidFill>
                <a:latin typeface="Calibri" pitchFamily="34" charset="0"/>
                <a:ea typeface="Calibri" pitchFamily="34" charset="-122"/>
                <a:cs typeface="Calibri" pitchFamily="34" charset="-120"/>
              </a:rPr>
              <a:t>How It's In The Project</a:t>
            </a:r>
            <a:endParaRPr lang="en-US" sz="1200" dirty="0"/>
          </a:p>
        </p:txBody>
      </p:sp>
      <p:sp>
        <p:nvSpPr>
          <p:cNvPr id="11" name="Text 9"/>
          <p:cNvSpPr/>
          <p:nvPr/>
        </p:nvSpPr>
        <p:spPr>
          <a:xfrm>
            <a:off x="4709160" y="1600200"/>
            <a:ext cx="3931920" cy="1463040"/>
          </a:xfrm>
          <a:prstGeom prst="rect">
            <a:avLst/>
          </a:prstGeom>
          <a:noFill/>
          <a:ln/>
        </p:spPr>
        <p:txBody>
          <a:bodyPr wrap="square" rtlCol="0" anchor="ctr"/>
          <a:lstStyle/>
          <a:p>
            <a:pPr marL="0" indent="0">
              <a:buNone/>
            </a:pPr>
            <a:r>
              <a:rPr lang="en-US" sz="1100" dirty="0">
                <a:solidFill>
                  <a:srgbClr val="1A2E38"/>
                </a:solidFill>
                <a:latin typeface="Calibri" pitchFamily="34" charset="0"/>
                <a:ea typeface="Calibri" pitchFamily="34" charset="-122"/>
                <a:cs typeface="Calibri" pitchFamily="34" charset="-120"/>
              </a:rPr>
              <a:t>Every UI piece is a function component. Props are passed as contracts — e.g., Dashboard receives user info props. Controlled forms in Login/Signup sync input values through useState. CSS Modules are used for scoped styling in VideoInterface and Notifications. Components are composed from smaller pieces inside Dashboard.</a:t>
            </a:r>
            <a:endParaRPr lang="en-US" sz="1100" dirty="0"/>
          </a:p>
        </p:txBody>
      </p:sp>
      <p:sp>
        <p:nvSpPr>
          <p:cNvPr id="12" name="Text 10"/>
          <p:cNvSpPr/>
          <p:nvPr/>
        </p:nvSpPr>
        <p:spPr>
          <a:xfrm>
            <a:off x="365760" y="3291840"/>
            <a:ext cx="8412480" cy="274320"/>
          </a:xfrm>
          <a:prstGeom prst="rect">
            <a:avLst/>
          </a:prstGeom>
          <a:noFill/>
          <a:ln/>
        </p:spPr>
        <p:txBody>
          <a:bodyPr wrap="square" rtlCol="0" anchor="ctr"/>
          <a:lstStyle/>
          <a:p>
            <a:pPr marL="0" indent="0">
              <a:buNone/>
            </a:pPr>
            <a:r>
              <a:rPr lang="en-US" sz="1100" b="1" dirty="0">
                <a:solidFill>
                  <a:srgbClr val="5E7A84"/>
                </a:solidFill>
                <a:latin typeface="Calibri" pitchFamily="34" charset="0"/>
                <a:ea typeface="Calibri" pitchFamily="34" charset="-122"/>
                <a:cs typeface="Calibri" pitchFamily="34" charset="-120"/>
              </a:rPr>
              <a:t>Key Components / Files Used:</a:t>
            </a:r>
            <a:endParaRPr lang="en-US" sz="1100" dirty="0"/>
          </a:p>
        </p:txBody>
      </p:sp>
      <p:sp>
        <p:nvSpPr>
          <p:cNvPr id="13" name="Shape 11"/>
          <p:cNvSpPr/>
          <p:nvPr/>
        </p:nvSpPr>
        <p:spPr>
          <a:xfrm>
            <a:off x="365760" y="3611880"/>
            <a:ext cx="2667000" cy="384048"/>
          </a:xfrm>
          <a:prstGeom prst="roundRect">
            <a:avLst>
              <a:gd name="adj" fmla="val 16667"/>
            </a:avLst>
          </a:prstGeom>
          <a:solidFill>
            <a:srgbClr val="0D2B3E"/>
          </a:solidFill>
          <a:ln w="12700">
            <a:solidFill>
              <a:srgbClr val="0D7B8A"/>
            </a:solidFill>
            <a:prstDash val="solid"/>
          </a:ln>
        </p:spPr>
      </p:sp>
      <p:sp>
        <p:nvSpPr>
          <p:cNvPr id="14" name="Text 12"/>
          <p:cNvSpPr/>
          <p:nvPr/>
        </p:nvSpPr>
        <p:spPr>
          <a:xfrm>
            <a:off x="365760" y="3611880"/>
            <a:ext cx="2667000" cy="384048"/>
          </a:xfrm>
          <a:prstGeom prst="rect">
            <a:avLst/>
          </a:prstGeom>
          <a:noFill/>
          <a:ln/>
        </p:spPr>
        <p:txBody>
          <a:bodyPr wrap="square" lIns="0" tIns="0" rIns="0" bIns="0" rtlCol="0" anchor="ctr"/>
          <a:lstStyle/>
          <a:p>
            <a:pPr marL="0" indent="0" algn="ctr">
              <a:buNone/>
            </a:pPr>
            <a:r>
              <a:rPr lang="en-US" sz="1000" dirty="0">
                <a:solidFill>
                  <a:srgbClr val="C8E8EC"/>
                </a:solidFill>
                <a:latin typeface="Calibri" pitchFamily="34" charset="0"/>
                <a:ea typeface="Calibri" pitchFamily="34" charset="-122"/>
                <a:cs typeface="Calibri" pitchFamily="34" charset="-120"/>
              </a:rPr>
              <a:t>Dashboard.jsx — composition hub</a:t>
            </a:r>
            <a:endParaRPr lang="en-US" sz="1000" dirty="0"/>
          </a:p>
        </p:txBody>
      </p:sp>
      <p:sp>
        <p:nvSpPr>
          <p:cNvPr id="15" name="Shape 13"/>
          <p:cNvSpPr/>
          <p:nvPr/>
        </p:nvSpPr>
        <p:spPr>
          <a:xfrm>
            <a:off x="3169920" y="3611880"/>
            <a:ext cx="2667000" cy="384048"/>
          </a:xfrm>
          <a:prstGeom prst="roundRect">
            <a:avLst>
              <a:gd name="adj" fmla="val 16667"/>
            </a:avLst>
          </a:prstGeom>
          <a:solidFill>
            <a:srgbClr val="0D2B3E"/>
          </a:solidFill>
          <a:ln w="12700">
            <a:solidFill>
              <a:srgbClr val="0D7B8A"/>
            </a:solidFill>
            <a:prstDash val="solid"/>
          </a:ln>
        </p:spPr>
      </p:sp>
      <p:sp>
        <p:nvSpPr>
          <p:cNvPr id="16" name="Text 14"/>
          <p:cNvSpPr/>
          <p:nvPr/>
        </p:nvSpPr>
        <p:spPr>
          <a:xfrm>
            <a:off x="3169920" y="3611880"/>
            <a:ext cx="2667000" cy="384048"/>
          </a:xfrm>
          <a:prstGeom prst="rect">
            <a:avLst/>
          </a:prstGeom>
          <a:noFill/>
          <a:ln/>
        </p:spPr>
        <p:txBody>
          <a:bodyPr wrap="square" lIns="0" tIns="0" rIns="0" bIns="0" rtlCol="0" anchor="ctr"/>
          <a:lstStyle/>
          <a:p>
            <a:pPr marL="0" indent="0" algn="ctr">
              <a:buNone/>
            </a:pPr>
            <a:r>
              <a:rPr lang="en-US" sz="1000" dirty="0">
                <a:solidFill>
                  <a:srgbClr val="C8E8EC"/>
                </a:solidFill>
                <a:latin typeface="Calibri" pitchFamily="34" charset="0"/>
                <a:ea typeface="Calibri" pitchFamily="34" charset="-122"/>
                <a:cs typeface="Calibri" pitchFamily="34" charset="-120"/>
              </a:rPr>
              <a:t>VideoInterface.jsx — hooks lifecycle</a:t>
            </a:r>
            <a:endParaRPr lang="en-US" sz="1000" dirty="0"/>
          </a:p>
        </p:txBody>
      </p:sp>
      <p:sp>
        <p:nvSpPr>
          <p:cNvPr id="17" name="Shape 15"/>
          <p:cNvSpPr/>
          <p:nvPr/>
        </p:nvSpPr>
        <p:spPr>
          <a:xfrm>
            <a:off x="5974080" y="3611880"/>
            <a:ext cx="2667000" cy="384048"/>
          </a:xfrm>
          <a:prstGeom prst="roundRect">
            <a:avLst>
              <a:gd name="adj" fmla="val 16667"/>
            </a:avLst>
          </a:prstGeom>
          <a:solidFill>
            <a:srgbClr val="0D2B3E"/>
          </a:solidFill>
          <a:ln w="12700">
            <a:solidFill>
              <a:srgbClr val="0D7B8A"/>
            </a:solidFill>
            <a:prstDash val="solid"/>
          </a:ln>
        </p:spPr>
      </p:sp>
      <p:sp>
        <p:nvSpPr>
          <p:cNvPr id="18" name="Text 16"/>
          <p:cNvSpPr/>
          <p:nvPr/>
        </p:nvSpPr>
        <p:spPr>
          <a:xfrm>
            <a:off x="5974080" y="3611880"/>
            <a:ext cx="2667000" cy="384048"/>
          </a:xfrm>
          <a:prstGeom prst="rect">
            <a:avLst/>
          </a:prstGeom>
          <a:noFill/>
          <a:ln/>
        </p:spPr>
        <p:txBody>
          <a:bodyPr wrap="square" lIns="0" tIns="0" rIns="0" bIns="0" rtlCol="0" anchor="ctr"/>
          <a:lstStyle/>
          <a:p>
            <a:pPr marL="0" indent="0" algn="ctr">
              <a:buNone/>
            </a:pPr>
            <a:r>
              <a:rPr lang="en-US" sz="1000" dirty="0">
                <a:solidFill>
                  <a:srgbClr val="C8E8EC"/>
                </a:solidFill>
                <a:latin typeface="Calibri" pitchFamily="34" charset="0"/>
                <a:ea typeface="Calibri" pitchFamily="34" charset="-122"/>
                <a:cs typeface="Calibri" pitchFamily="34" charset="-120"/>
              </a:rPr>
              <a:t>Notifications.jsx + .css</a:t>
            </a:r>
            <a:endParaRPr lang="en-US" sz="1000" dirty="0"/>
          </a:p>
        </p:txBody>
      </p:sp>
      <p:sp>
        <p:nvSpPr>
          <p:cNvPr id="19" name="Shape 17"/>
          <p:cNvSpPr/>
          <p:nvPr/>
        </p:nvSpPr>
        <p:spPr>
          <a:xfrm>
            <a:off x="365760" y="4114800"/>
            <a:ext cx="2667000" cy="384048"/>
          </a:xfrm>
          <a:prstGeom prst="roundRect">
            <a:avLst>
              <a:gd name="adj" fmla="val 16667"/>
            </a:avLst>
          </a:prstGeom>
          <a:solidFill>
            <a:srgbClr val="0D2B3E"/>
          </a:solidFill>
          <a:ln w="12700">
            <a:solidFill>
              <a:srgbClr val="0D7B8A"/>
            </a:solidFill>
            <a:prstDash val="solid"/>
          </a:ln>
        </p:spPr>
      </p:sp>
      <p:sp>
        <p:nvSpPr>
          <p:cNvPr id="20" name="Text 18"/>
          <p:cNvSpPr/>
          <p:nvPr/>
        </p:nvSpPr>
        <p:spPr>
          <a:xfrm>
            <a:off x="365760" y="4114800"/>
            <a:ext cx="2667000" cy="384048"/>
          </a:xfrm>
          <a:prstGeom prst="rect">
            <a:avLst/>
          </a:prstGeom>
          <a:noFill/>
          <a:ln/>
        </p:spPr>
        <p:txBody>
          <a:bodyPr wrap="square" lIns="0" tIns="0" rIns="0" bIns="0" rtlCol="0" anchor="ctr"/>
          <a:lstStyle/>
          <a:p>
            <a:pPr marL="0" indent="0" algn="ctr">
              <a:buNone/>
            </a:pPr>
            <a:r>
              <a:rPr lang="en-US" sz="1000" dirty="0">
                <a:solidFill>
                  <a:srgbClr val="C8E8EC"/>
                </a:solidFill>
                <a:latin typeface="Calibri" pitchFamily="34" charset="0"/>
                <a:ea typeface="Calibri" pitchFamily="34" charset="-122"/>
                <a:cs typeface="Calibri" pitchFamily="34" charset="-120"/>
              </a:rPr>
              <a:t>PrescriptionForm.jsx + .css</a:t>
            </a:r>
            <a:endParaRPr lang="en-US" sz="1000" dirty="0"/>
          </a:p>
        </p:txBody>
      </p:sp>
      <p:sp>
        <p:nvSpPr>
          <p:cNvPr id="21" name="Shape 19"/>
          <p:cNvSpPr/>
          <p:nvPr/>
        </p:nvSpPr>
        <p:spPr>
          <a:xfrm>
            <a:off x="3169920" y="4114800"/>
            <a:ext cx="2667000" cy="384048"/>
          </a:xfrm>
          <a:prstGeom prst="roundRect">
            <a:avLst>
              <a:gd name="adj" fmla="val 16667"/>
            </a:avLst>
          </a:prstGeom>
          <a:solidFill>
            <a:srgbClr val="0D2B3E"/>
          </a:solidFill>
          <a:ln w="12700">
            <a:solidFill>
              <a:srgbClr val="0D7B8A"/>
            </a:solidFill>
            <a:prstDash val="solid"/>
          </a:ln>
        </p:spPr>
      </p:sp>
      <p:sp>
        <p:nvSpPr>
          <p:cNvPr id="22" name="Text 20"/>
          <p:cNvSpPr/>
          <p:nvPr/>
        </p:nvSpPr>
        <p:spPr>
          <a:xfrm>
            <a:off x="3169920" y="4114800"/>
            <a:ext cx="2667000" cy="384048"/>
          </a:xfrm>
          <a:prstGeom prst="rect">
            <a:avLst/>
          </a:prstGeom>
          <a:noFill/>
          <a:ln/>
        </p:spPr>
        <p:txBody>
          <a:bodyPr wrap="square" lIns="0" tIns="0" rIns="0" bIns="0" rtlCol="0" anchor="ctr"/>
          <a:lstStyle/>
          <a:p>
            <a:pPr marL="0" indent="0" algn="ctr">
              <a:buNone/>
            </a:pPr>
            <a:r>
              <a:rPr lang="en-US" sz="1000" dirty="0">
                <a:solidFill>
                  <a:srgbClr val="C8E8EC"/>
                </a:solidFill>
                <a:latin typeface="Calibri" pitchFamily="34" charset="0"/>
                <a:ea typeface="Calibri" pitchFamily="34" charset="-122"/>
                <a:cs typeface="Calibri" pitchFamily="34" charset="-120"/>
              </a:rPr>
              <a:t>Login/Signup — controlled forms</a:t>
            </a:r>
            <a:endParaRPr lang="en-US" sz="1000" dirty="0"/>
          </a:p>
        </p:txBody>
      </p:sp>
      <p:sp>
        <p:nvSpPr>
          <p:cNvPr id="23" name="Shape 21"/>
          <p:cNvSpPr/>
          <p:nvPr/>
        </p:nvSpPr>
        <p:spPr>
          <a:xfrm>
            <a:off x="5974080" y="4114800"/>
            <a:ext cx="2667000" cy="384048"/>
          </a:xfrm>
          <a:prstGeom prst="roundRect">
            <a:avLst>
              <a:gd name="adj" fmla="val 16667"/>
            </a:avLst>
          </a:prstGeom>
          <a:solidFill>
            <a:srgbClr val="0D2B3E"/>
          </a:solidFill>
          <a:ln w="12700">
            <a:solidFill>
              <a:srgbClr val="0D7B8A"/>
            </a:solidFill>
            <a:prstDash val="solid"/>
          </a:ln>
        </p:spPr>
      </p:sp>
      <p:sp>
        <p:nvSpPr>
          <p:cNvPr id="24" name="Text 22"/>
          <p:cNvSpPr/>
          <p:nvPr/>
        </p:nvSpPr>
        <p:spPr>
          <a:xfrm>
            <a:off x="5974080" y="4114800"/>
            <a:ext cx="2667000" cy="384048"/>
          </a:xfrm>
          <a:prstGeom prst="rect">
            <a:avLst/>
          </a:prstGeom>
          <a:noFill/>
          <a:ln/>
        </p:spPr>
        <p:txBody>
          <a:bodyPr wrap="square" lIns="0" tIns="0" rIns="0" bIns="0" rtlCol="0" anchor="ctr"/>
          <a:lstStyle/>
          <a:p>
            <a:pPr marL="0" indent="0" algn="ctr">
              <a:buNone/>
            </a:pPr>
            <a:r>
              <a:rPr lang="en-US" sz="1000" dirty="0">
                <a:solidFill>
                  <a:srgbClr val="C8E8EC"/>
                </a:solidFill>
                <a:latin typeface="Calibri" pitchFamily="34" charset="0"/>
                <a:ea typeface="Calibri" pitchFamily="34" charset="-122"/>
                <a:cs typeface="Calibri" pitchFamily="34" charset="-120"/>
              </a:rPr>
              <a:t>PreCallCheck.jsx — state logic</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9FA"/>
        </a:solidFill>
        <a:effectLst/>
      </p:bgPr>
    </p:bg>
    <p:spTree>
      <p:nvGrpSpPr>
        <p:cNvPr id="1" name=""/>
        <p:cNvGrpSpPr/>
        <p:nvPr/>
      </p:nvGrpSpPr>
      <p:grpSpPr>
        <a:xfrm>
          <a:off x="0" y="0"/>
          <a:ext cx="0" cy="0"/>
          <a:chOff x="0" y="0"/>
          <a:chExt cx="0" cy="0"/>
        </a:xfrm>
      </p:grpSpPr>
      <p:sp>
        <p:nvSpPr>
          <p:cNvPr id="2" name="Shape 0"/>
          <p:cNvSpPr/>
          <p:nvPr/>
        </p:nvSpPr>
        <p:spPr>
          <a:xfrm>
            <a:off x="365760" y="228600"/>
            <a:ext cx="8412480" cy="822960"/>
          </a:xfrm>
          <a:prstGeom prst="roundRect">
            <a:avLst>
              <a:gd name="adj" fmla="val 11111"/>
            </a:avLst>
          </a:prstGeom>
          <a:solidFill>
            <a:srgbClr val="0D7B8A"/>
          </a:solidFill>
          <a:ln w="12700">
            <a:solidFill>
              <a:srgbClr val="0D7B8A"/>
            </a:solidFill>
            <a:prstDash val="solid"/>
          </a:ln>
          <a:effectLst>
            <a:outerShdw blurRad="101600" dist="38100" dir="2700000" algn="bl" rotWithShape="0">
              <a:srgbClr val="000000">
                <a:alpha val="12000"/>
              </a:srgbClr>
            </a:outerShdw>
          </a:effectLst>
        </p:spPr>
      </p:sp>
      <p:sp>
        <p:nvSpPr>
          <p:cNvPr id="3" name="Shape 1"/>
          <p:cNvSpPr/>
          <p:nvPr/>
        </p:nvSpPr>
        <p:spPr>
          <a:xfrm>
            <a:off x="365760" y="228600"/>
            <a:ext cx="914400" cy="822960"/>
          </a:xfrm>
          <a:prstGeom prst="roundRect">
            <a:avLst>
              <a:gd name="adj" fmla="val 11111"/>
            </a:avLst>
          </a:prstGeom>
          <a:solidFill>
            <a:srgbClr val="0D2B3E"/>
          </a:solidFill>
          <a:ln w="12700">
            <a:solidFill>
              <a:srgbClr val="0D2B3E"/>
            </a:solidFill>
            <a:prstDash val="solid"/>
          </a:ln>
        </p:spPr>
      </p:sp>
      <p:sp>
        <p:nvSpPr>
          <p:cNvPr id="4" name="Text 2"/>
          <p:cNvSpPr/>
          <p:nvPr/>
        </p:nvSpPr>
        <p:spPr>
          <a:xfrm>
            <a:off x="365760" y="228600"/>
            <a:ext cx="91440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CO4</a:t>
            </a:r>
            <a:endParaRPr lang="en-US" sz="2200" dirty="0"/>
          </a:p>
        </p:txBody>
      </p:sp>
      <p:sp>
        <p:nvSpPr>
          <p:cNvPr id="5" name="Text 3"/>
          <p:cNvSpPr/>
          <p:nvPr/>
        </p:nvSpPr>
        <p:spPr>
          <a:xfrm>
            <a:off x="1417320" y="228600"/>
            <a:ext cx="7223760" cy="82296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State Architecture, Async Data &amp; API Integration</a:t>
            </a:r>
            <a:endParaRPr lang="en-US" sz="1800" dirty="0"/>
          </a:p>
        </p:txBody>
      </p:sp>
      <p:sp>
        <p:nvSpPr>
          <p:cNvPr id="6" name="Shape 4"/>
          <p:cNvSpPr/>
          <p:nvPr/>
        </p:nvSpPr>
        <p:spPr>
          <a:xfrm>
            <a:off x="365760" y="1188720"/>
            <a:ext cx="3977640" cy="1965960"/>
          </a:xfrm>
          <a:prstGeom prst="roundRect">
            <a:avLst>
              <a:gd name="adj" fmla="val 4651"/>
            </a:avLst>
          </a:prstGeom>
          <a:solidFill>
            <a:srgbClr val="FFFFFF"/>
          </a:solidFill>
          <a:ln w="12700">
            <a:solidFill>
              <a:srgbClr val="C8E8EC"/>
            </a:solidFill>
            <a:prstDash val="solid"/>
          </a:ln>
          <a:effectLst>
            <a:outerShdw blurRad="101600" dist="38100" dir="2700000" algn="bl" rotWithShape="0">
              <a:srgbClr val="000000">
                <a:alpha val="12000"/>
              </a:srgbClr>
            </a:outerShdw>
          </a:effectLst>
        </p:spPr>
      </p:sp>
      <p:sp>
        <p:nvSpPr>
          <p:cNvPr id="7" name="Text 5"/>
          <p:cNvSpPr/>
          <p:nvPr/>
        </p:nvSpPr>
        <p:spPr>
          <a:xfrm>
            <a:off x="502920" y="1261872"/>
            <a:ext cx="3703320" cy="320040"/>
          </a:xfrm>
          <a:prstGeom prst="rect">
            <a:avLst/>
          </a:prstGeom>
          <a:noFill/>
          <a:ln/>
        </p:spPr>
        <p:txBody>
          <a:bodyPr wrap="square" rtlCol="0" anchor="ctr"/>
          <a:lstStyle/>
          <a:p>
            <a:pPr marL="0" indent="0">
              <a:buNone/>
            </a:pPr>
            <a:r>
              <a:rPr lang="en-US" sz="1200" b="1" dirty="0">
                <a:solidFill>
                  <a:srgbClr val="0D7B8A"/>
                </a:solidFill>
                <a:latin typeface="Calibri" pitchFamily="34" charset="0"/>
                <a:ea typeface="Calibri" pitchFamily="34" charset="-122"/>
                <a:cs typeface="Calibri" pitchFamily="34" charset="-120"/>
              </a:rPr>
              <a:t>What We Learned</a:t>
            </a:r>
            <a:endParaRPr lang="en-US" sz="1200" dirty="0"/>
          </a:p>
        </p:txBody>
      </p:sp>
      <p:sp>
        <p:nvSpPr>
          <p:cNvPr id="8" name="Text 6"/>
          <p:cNvSpPr/>
          <p:nvPr/>
        </p:nvSpPr>
        <p:spPr>
          <a:xfrm>
            <a:off x="502920" y="1600200"/>
            <a:ext cx="3703320" cy="1463040"/>
          </a:xfrm>
          <a:prstGeom prst="rect">
            <a:avLst/>
          </a:prstGeom>
          <a:noFill/>
          <a:ln/>
        </p:spPr>
        <p:txBody>
          <a:bodyPr wrap="square" rtlCol="0" anchor="ctr"/>
          <a:lstStyle/>
          <a:p>
            <a:pPr marL="0" indent="0">
              <a:buNone/>
            </a:pPr>
            <a:r>
              <a:rPr lang="en-US" sz="1100" dirty="0">
                <a:solidFill>
                  <a:srgbClr val="1A2E38"/>
                </a:solidFill>
                <a:latin typeface="Calibri" pitchFamily="34" charset="0"/>
                <a:ea typeface="Calibri" pitchFamily="34" charset="-122"/>
                <a:cs typeface="Calibri" pitchFamily="34" charset="-120"/>
              </a:rPr>
              <a:t>Lifting state, co-locating state, derived state, global state, React Context rationale, API service layers, async flow control, race conditions, stale state issues, caching strategies, skeleton UIs, container-presenter patterns, error boundaries.</a:t>
            </a:r>
            <a:endParaRPr lang="en-US" sz="1100" dirty="0"/>
          </a:p>
        </p:txBody>
      </p:sp>
      <p:sp>
        <p:nvSpPr>
          <p:cNvPr id="9" name="Shape 7"/>
          <p:cNvSpPr/>
          <p:nvPr/>
        </p:nvSpPr>
        <p:spPr>
          <a:xfrm>
            <a:off x="4572000" y="1188720"/>
            <a:ext cx="4206240" cy="1965960"/>
          </a:xfrm>
          <a:prstGeom prst="roundRect">
            <a:avLst>
              <a:gd name="adj" fmla="val 4651"/>
            </a:avLst>
          </a:prstGeom>
          <a:solidFill>
            <a:srgbClr val="FFFFFF"/>
          </a:solidFill>
          <a:ln w="12700">
            <a:solidFill>
              <a:srgbClr val="C8E8EC"/>
            </a:solidFill>
            <a:prstDash val="solid"/>
          </a:ln>
          <a:effectLst>
            <a:outerShdw blurRad="101600" dist="38100" dir="2700000" algn="bl" rotWithShape="0">
              <a:srgbClr val="000000">
                <a:alpha val="12000"/>
              </a:srgbClr>
            </a:outerShdw>
          </a:effectLst>
        </p:spPr>
      </p:sp>
      <p:sp>
        <p:nvSpPr>
          <p:cNvPr id="10" name="Text 8"/>
          <p:cNvSpPr/>
          <p:nvPr/>
        </p:nvSpPr>
        <p:spPr>
          <a:xfrm>
            <a:off x="4709160" y="1261872"/>
            <a:ext cx="3931920" cy="320040"/>
          </a:xfrm>
          <a:prstGeom prst="rect">
            <a:avLst/>
          </a:prstGeom>
          <a:noFill/>
          <a:ln/>
        </p:spPr>
        <p:txBody>
          <a:bodyPr wrap="square" rtlCol="0" anchor="ctr"/>
          <a:lstStyle/>
          <a:p>
            <a:pPr marL="0" indent="0">
              <a:buNone/>
            </a:pPr>
            <a:r>
              <a:rPr lang="en-US" sz="1200" b="1" dirty="0">
                <a:solidFill>
                  <a:srgbClr val="0D7B8A"/>
                </a:solidFill>
                <a:latin typeface="Calibri" pitchFamily="34" charset="0"/>
                <a:ea typeface="Calibri" pitchFamily="34" charset="-122"/>
                <a:cs typeface="Calibri" pitchFamily="34" charset="-120"/>
              </a:rPr>
              <a:t>How It's In The Project</a:t>
            </a:r>
            <a:endParaRPr lang="en-US" sz="1200" dirty="0"/>
          </a:p>
        </p:txBody>
      </p:sp>
      <p:sp>
        <p:nvSpPr>
          <p:cNvPr id="11" name="Text 9"/>
          <p:cNvSpPr/>
          <p:nvPr/>
        </p:nvSpPr>
        <p:spPr>
          <a:xfrm>
            <a:off x="4709160" y="1600200"/>
            <a:ext cx="3931920" cy="1463040"/>
          </a:xfrm>
          <a:prstGeom prst="rect">
            <a:avLst/>
          </a:prstGeom>
          <a:noFill/>
          <a:ln/>
        </p:spPr>
        <p:txBody>
          <a:bodyPr wrap="square" rtlCol="0" anchor="ctr"/>
          <a:lstStyle/>
          <a:p>
            <a:pPr marL="0" indent="0">
              <a:buNone/>
            </a:pPr>
            <a:r>
              <a:rPr lang="en-US" sz="1100" dirty="0">
                <a:solidFill>
                  <a:srgbClr val="1A2E38"/>
                </a:solidFill>
                <a:latin typeface="Calibri" pitchFamily="34" charset="0"/>
                <a:ea typeface="Calibri" pitchFamily="34" charset="-122"/>
                <a:cs typeface="Calibri" pitchFamily="34" charset="-120"/>
              </a:rPr>
              <a:t>State is lifted to Dashboard.jsx which passes it down to sub-modules. Auth state is stored in localStorage and checked in ProtectedRoute. Async patterns appear in form submissions. The container-presenter split is visible in Dashboard (container) → BookAppointment, MyAppointments (presenters). Notifications show dynamic state updates.</a:t>
            </a:r>
            <a:endParaRPr lang="en-US" sz="1100" dirty="0"/>
          </a:p>
        </p:txBody>
      </p:sp>
      <p:sp>
        <p:nvSpPr>
          <p:cNvPr id="12" name="Text 10"/>
          <p:cNvSpPr/>
          <p:nvPr/>
        </p:nvSpPr>
        <p:spPr>
          <a:xfrm>
            <a:off x="365760" y="3291840"/>
            <a:ext cx="8412480" cy="274320"/>
          </a:xfrm>
          <a:prstGeom prst="rect">
            <a:avLst/>
          </a:prstGeom>
          <a:noFill/>
          <a:ln/>
        </p:spPr>
        <p:txBody>
          <a:bodyPr wrap="square" rtlCol="0" anchor="ctr"/>
          <a:lstStyle/>
          <a:p>
            <a:pPr marL="0" indent="0">
              <a:buNone/>
            </a:pPr>
            <a:r>
              <a:rPr lang="en-US" sz="1100" b="1" dirty="0">
                <a:solidFill>
                  <a:srgbClr val="5E7A84"/>
                </a:solidFill>
                <a:latin typeface="Calibri" pitchFamily="34" charset="0"/>
                <a:ea typeface="Calibri" pitchFamily="34" charset="-122"/>
                <a:cs typeface="Calibri" pitchFamily="34" charset="-120"/>
              </a:rPr>
              <a:t>Key Components / Files Used:</a:t>
            </a:r>
            <a:endParaRPr lang="en-US" sz="1100" dirty="0"/>
          </a:p>
        </p:txBody>
      </p:sp>
      <p:sp>
        <p:nvSpPr>
          <p:cNvPr id="13" name="Shape 11"/>
          <p:cNvSpPr/>
          <p:nvPr/>
        </p:nvSpPr>
        <p:spPr>
          <a:xfrm>
            <a:off x="365760" y="3611880"/>
            <a:ext cx="2667000" cy="384048"/>
          </a:xfrm>
          <a:prstGeom prst="roundRect">
            <a:avLst>
              <a:gd name="adj" fmla="val 16667"/>
            </a:avLst>
          </a:prstGeom>
          <a:solidFill>
            <a:srgbClr val="0D2B3E"/>
          </a:solidFill>
          <a:ln w="12700">
            <a:solidFill>
              <a:srgbClr val="0D7B8A"/>
            </a:solidFill>
            <a:prstDash val="solid"/>
          </a:ln>
        </p:spPr>
      </p:sp>
      <p:sp>
        <p:nvSpPr>
          <p:cNvPr id="14" name="Text 12"/>
          <p:cNvSpPr/>
          <p:nvPr/>
        </p:nvSpPr>
        <p:spPr>
          <a:xfrm>
            <a:off x="365760" y="3611880"/>
            <a:ext cx="2667000" cy="384048"/>
          </a:xfrm>
          <a:prstGeom prst="rect">
            <a:avLst/>
          </a:prstGeom>
          <a:noFill/>
          <a:ln/>
        </p:spPr>
        <p:txBody>
          <a:bodyPr wrap="square" lIns="0" tIns="0" rIns="0" bIns="0" rtlCol="0" anchor="ctr"/>
          <a:lstStyle/>
          <a:p>
            <a:pPr marL="0" indent="0" algn="ctr">
              <a:buNone/>
            </a:pPr>
            <a:r>
              <a:rPr lang="en-US" sz="1000" dirty="0">
                <a:solidFill>
                  <a:srgbClr val="C8E8EC"/>
                </a:solidFill>
                <a:latin typeface="Calibri" pitchFamily="34" charset="0"/>
                <a:ea typeface="Calibri" pitchFamily="34" charset="-122"/>
                <a:cs typeface="Calibri" pitchFamily="34" charset="-120"/>
              </a:rPr>
              <a:t>Dashboard.jsx — lifted state hub</a:t>
            </a:r>
            <a:endParaRPr lang="en-US" sz="1000" dirty="0"/>
          </a:p>
        </p:txBody>
      </p:sp>
      <p:sp>
        <p:nvSpPr>
          <p:cNvPr id="15" name="Shape 13"/>
          <p:cNvSpPr/>
          <p:nvPr/>
        </p:nvSpPr>
        <p:spPr>
          <a:xfrm>
            <a:off x="3169920" y="3611880"/>
            <a:ext cx="2667000" cy="384048"/>
          </a:xfrm>
          <a:prstGeom prst="roundRect">
            <a:avLst>
              <a:gd name="adj" fmla="val 16667"/>
            </a:avLst>
          </a:prstGeom>
          <a:solidFill>
            <a:srgbClr val="0D2B3E"/>
          </a:solidFill>
          <a:ln w="12700">
            <a:solidFill>
              <a:srgbClr val="0D7B8A"/>
            </a:solidFill>
            <a:prstDash val="solid"/>
          </a:ln>
        </p:spPr>
      </p:sp>
      <p:sp>
        <p:nvSpPr>
          <p:cNvPr id="16" name="Text 14"/>
          <p:cNvSpPr/>
          <p:nvPr/>
        </p:nvSpPr>
        <p:spPr>
          <a:xfrm>
            <a:off x="3169920" y="3611880"/>
            <a:ext cx="2667000" cy="384048"/>
          </a:xfrm>
          <a:prstGeom prst="rect">
            <a:avLst/>
          </a:prstGeom>
          <a:noFill/>
          <a:ln/>
        </p:spPr>
        <p:txBody>
          <a:bodyPr wrap="square" lIns="0" tIns="0" rIns="0" bIns="0" rtlCol="0" anchor="ctr"/>
          <a:lstStyle/>
          <a:p>
            <a:pPr marL="0" indent="0" algn="ctr">
              <a:buNone/>
            </a:pPr>
            <a:r>
              <a:rPr lang="en-US" sz="1000" dirty="0">
                <a:solidFill>
                  <a:srgbClr val="C8E8EC"/>
                </a:solidFill>
                <a:latin typeface="Calibri" pitchFamily="34" charset="0"/>
                <a:ea typeface="Calibri" pitchFamily="34" charset="-122"/>
                <a:cs typeface="Calibri" pitchFamily="34" charset="-120"/>
              </a:rPr>
              <a:t>App.jsx — ProtectedRoute logic</a:t>
            </a:r>
            <a:endParaRPr lang="en-US" sz="1000" dirty="0"/>
          </a:p>
        </p:txBody>
      </p:sp>
      <p:sp>
        <p:nvSpPr>
          <p:cNvPr id="17" name="Shape 15"/>
          <p:cNvSpPr/>
          <p:nvPr/>
        </p:nvSpPr>
        <p:spPr>
          <a:xfrm>
            <a:off x="5974080" y="3611880"/>
            <a:ext cx="2667000" cy="384048"/>
          </a:xfrm>
          <a:prstGeom prst="roundRect">
            <a:avLst>
              <a:gd name="adj" fmla="val 16667"/>
            </a:avLst>
          </a:prstGeom>
          <a:solidFill>
            <a:srgbClr val="0D2B3E"/>
          </a:solidFill>
          <a:ln w="12700">
            <a:solidFill>
              <a:srgbClr val="0D7B8A"/>
            </a:solidFill>
            <a:prstDash val="solid"/>
          </a:ln>
        </p:spPr>
      </p:sp>
      <p:sp>
        <p:nvSpPr>
          <p:cNvPr id="18" name="Text 16"/>
          <p:cNvSpPr/>
          <p:nvPr/>
        </p:nvSpPr>
        <p:spPr>
          <a:xfrm>
            <a:off x="5974080" y="3611880"/>
            <a:ext cx="2667000" cy="384048"/>
          </a:xfrm>
          <a:prstGeom prst="rect">
            <a:avLst/>
          </a:prstGeom>
          <a:noFill/>
          <a:ln/>
        </p:spPr>
        <p:txBody>
          <a:bodyPr wrap="square" lIns="0" tIns="0" rIns="0" bIns="0" rtlCol="0" anchor="ctr"/>
          <a:lstStyle/>
          <a:p>
            <a:pPr marL="0" indent="0" algn="ctr">
              <a:buNone/>
            </a:pPr>
            <a:r>
              <a:rPr lang="en-US" sz="1000" dirty="0">
                <a:solidFill>
                  <a:srgbClr val="C8E8EC"/>
                </a:solidFill>
                <a:latin typeface="Calibri" pitchFamily="34" charset="0"/>
                <a:ea typeface="Calibri" pitchFamily="34" charset="-122"/>
                <a:cs typeface="Calibri" pitchFamily="34" charset="-120"/>
              </a:rPr>
              <a:t>BookAppointment.jsx — async flow</a:t>
            </a:r>
            <a:endParaRPr lang="en-US" sz="1000" dirty="0"/>
          </a:p>
        </p:txBody>
      </p:sp>
      <p:sp>
        <p:nvSpPr>
          <p:cNvPr id="19" name="Shape 17"/>
          <p:cNvSpPr/>
          <p:nvPr/>
        </p:nvSpPr>
        <p:spPr>
          <a:xfrm>
            <a:off x="365760" y="4114800"/>
            <a:ext cx="2667000" cy="384048"/>
          </a:xfrm>
          <a:prstGeom prst="roundRect">
            <a:avLst>
              <a:gd name="adj" fmla="val 16667"/>
            </a:avLst>
          </a:prstGeom>
          <a:solidFill>
            <a:srgbClr val="0D2B3E"/>
          </a:solidFill>
          <a:ln w="12700">
            <a:solidFill>
              <a:srgbClr val="0D7B8A"/>
            </a:solidFill>
            <a:prstDash val="solid"/>
          </a:ln>
        </p:spPr>
      </p:sp>
      <p:sp>
        <p:nvSpPr>
          <p:cNvPr id="20" name="Text 18"/>
          <p:cNvSpPr/>
          <p:nvPr/>
        </p:nvSpPr>
        <p:spPr>
          <a:xfrm>
            <a:off x="365760" y="4114800"/>
            <a:ext cx="2667000" cy="384048"/>
          </a:xfrm>
          <a:prstGeom prst="rect">
            <a:avLst/>
          </a:prstGeom>
          <a:noFill/>
          <a:ln/>
        </p:spPr>
        <p:txBody>
          <a:bodyPr wrap="square" lIns="0" tIns="0" rIns="0" bIns="0" rtlCol="0" anchor="ctr"/>
          <a:lstStyle/>
          <a:p>
            <a:pPr marL="0" indent="0" algn="ctr">
              <a:buNone/>
            </a:pPr>
            <a:r>
              <a:rPr lang="en-US" sz="1000" dirty="0">
                <a:solidFill>
                  <a:srgbClr val="C8E8EC"/>
                </a:solidFill>
                <a:latin typeface="Calibri" pitchFamily="34" charset="0"/>
                <a:ea typeface="Calibri" pitchFamily="34" charset="-122"/>
                <a:cs typeface="Calibri" pitchFamily="34" charset="-120"/>
              </a:rPr>
              <a:t>MyAppointments.jsx — derived state</a:t>
            </a:r>
            <a:endParaRPr lang="en-US" sz="1000" dirty="0"/>
          </a:p>
        </p:txBody>
      </p:sp>
      <p:sp>
        <p:nvSpPr>
          <p:cNvPr id="21" name="Shape 19"/>
          <p:cNvSpPr/>
          <p:nvPr/>
        </p:nvSpPr>
        <p:spPr>
          <a:xfrm>
            <a:off x="3169920" y="4114800"/>
            <a:ext cx="2667000" cy="384048"/>
          </a:xfrm>
          <a:prstGeom prst="roundRect">
            <a:avLst>
              <a:gd name="adj" fmla="val 16667"/>
            </a:avLst>
          </a:prstGeom>
          <a:solidFill>
            <a:srgbClr val="0D2B3E"/>
          </a:solidFill>
          <a:ln w="12700">
            <a:solidFill>
              <a:srgbClr val="0D7B8A"/>
            </a:solidFill>
            <a:prstDash val="solid"/>
          </a:ln>
        </p:spPr>
      </p:sp>
      <p:sp>
        <p:nvSpPr>
          <p:cNvPr id="22" name="Text 20"/>
          <p:cNvSpPr/>
          <p:nvPr/>
        </p:nvSpPr>
        <p:spPr>
          <a:xfrm>
            <a:off x="3169920" y="4114800"/>
            <a:ext cx="2667000" cy="384048"/>
          </a:xfrm>
          <a:prstGeom prst="rect">
            <a:avLst/>
          </a:prstGeom>
          <a:noFill/>
          <a:ln/>
        </p:spPr>
        <p:txBody>
          <a:bodyPr wrap="square" lIns="0" tIns="0" rIns="0" bIns="0" rtlCol="0" anchor="ctr"/>
          <a:lstStyle/>
          <a:p>
            <a:pPr marL="0" indent="0" algn="ctr">
              <a:buNone/>
            </a:pPr>
            <a:r>
              <a:rPr lang="en-US" sz="1000" dirty="0">
                <a:solidFill>
                  <a:srgbClr val="C8E8EC"/>
                </a:solidFill>
                <a:latin typeface="Calibri" pitchFamily="34" charset="0"/>
                <a:ea typeface="Calibri" pitchFamily="34" charset="-122"/>
                <a:cs typeface="Calibri" pitchFamily="34" charset="-120"/>
              </a:rPr>
              <a:t>Notifications.jsx — realtime state</a:t>
            </a:r>
            <a:endParaRPr lang="en-US" sz="1000" dirty="0"/>
          </a:p>
        </p:txBody>
      </p:sp>
      <p:sp>
        <p:nvSpPr>
          <p:cNvPr id="23" name="Shape 21"/>
          <p:cNvSpPr/>
          <p:nvPr/>
        </p:nvSpPr>
        <p:spPr>
          <a:xfrm>
            <a:off x="5974080" y="4114800"/>
            <a:ext cx="2667000" cy="384048"/>
          </a:xfrm>
          <a:prstGeom prst="roundRect">
            <a:avLst>
              <a:gd name="adj" fmla="val 16667"/>
            </a:avLst>
          </a:prstGeom>
          <a:solidFill>
            <a:srgbClr val="0D2B3E"/>
          </a:solidFill>
          <a:ln w="12700">
            <a:solidFill>
              <a:srgbClr val="0D7B8A"/>
            </a:solidFill>
            <a:prstDash val="solid"/>
          </a:ln>
        </p:spPr>
      </p:sp>
      <p:sp>
        <p:nvSpPr>
          <p:cNvPr id="24" name="Text 22"/>
          <p:cNvSpPr/>
          <p:nvPr/>
        </p:nvSpPr>
        <p:spPr>
          <a:xfrm>
            <a:off x="5974080" y="4114800"/>
            <a:ext cx="2667000" cy="384048"/>
          </a:xfrm>
          <a:prstGeom prst="rect">
            <a:avLst/>
          </a:prstGeom>
          <a:noFill/>
          <a:ln/>
        </p:spPr>
        <p:txBody>
          <a:bodyPr wrap="square" lIns="0" tIns="0" rIns="0" bIns="0" rtlCol="0" anchor="ctr"/>
          <a:lstStyle/>
          <a:p>
            <a:pPr marL="0" indent="0" algn="ctr">
              <a:buNone/>
            </a:pPr>
            <a:r>
              <a:rPr lang="en-US" sz="1000" dirty="0">
                <a:solidFill>
                  <a:srgbClr val="C8E8EC"/>
                </a:solidFill>
                <a:latin typeface="Calibri" pitchFamily="34" charset="0"/>
                <a:ea typeface="Calibri" pitchFamily="34" charset="-122"/>
                <a:cs typeface="Calibri" pitchFamily="34" charset="-120"/>
              </a:rPr>
              <a:t>HistoryLog.jsx — cached data view</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9FA"/>
        </a:solidFill>
        <a:effectLst/>
      </p:bgPr>
    </p:bg>
    <p:spTree>
      <p:nvGrpSpPr>
        <p:cNvPr id="1" name=""/>
        <p:cNvGrpSpPr/>
        <p:nvPr/>
      </p:nvGrpSpPr>
      <p:grpSpPr>
        <a:xfrm>
          <a:off x="0" y="0"/>
          <a:ext cx="0" cy="0"/>
          <a:chOff x="0" y="0"/>
          <a:chExt cx="0" cy="0"/>
        </a:xfrm>
      </p:grpSpPr>
      <p:sp>
        <p:nvSpPr>
          <p:cNvPr id="2" name="Shape 0"/>
          <p:cNvSpPr/>
          <p:nvPr/>
        </p:nvSpPr>
        <p:spPr>
          <a:xfrm>
            <a:off x="365760" y="228600"/>
            <a:ext cx="8412480" cy="822960"/>
          </a:xfrm>
          <a:prstGeom prst="roundRect">
            <a:avLst>
              <a:gd name="adj" fmla="val 11111"/>
            </a:avLst>
          </a:prstGeom>
          <a:solidFill>
            <a:srgbClr val="0D7B8A"/>
          </a:solidFill>
          <a:ln w="12700">
            <a:solidFill>
              <a:srgbClr val="0D7B8A"/>
            </a:solidFill>
            <a:prstDash val="solid"/>
          </a:ln>
          <a:effectLst>
            <a:outerShdw blurRad="101600" dist="38100" dir="2700000" algn="bl" rotWithShape="0">
              <a:srgbClr val="000000">
                <a:alpha val="12000"/>
              </a:srgbClr>
            </a:outerShdw>
          </a:effectLst>
        </p:spPr>
      </p:sp>
      <p:sp>
        <p:nvSpPr>
          <p:cNvPr id="3" name="Shape 1"/>
          <p:cNvSpPr/>
          <p:nvPr/>
        </p:nvSpPr>
        <p:spPr>
          <a:xfrm>
            <a:off x="365760" y="228600"/>
            <a:ext cx="914400" cy="822960"/>
          </a:xfrm>
          <a:prstGeom prst="roundRect">
            <a:avLst>
              <a:gd name="adj" fmla="val 11111"/>
            </a:avLst>
          </a:prstGeom>
          <a:solidFill>
            <a:srgbClr val="0D2B3E"/>
          </a:solidFill>
          <a:ln w="12700">
            <a:solidFill>
              <a:srgbClr val="0D2B3E"/>
            </a:solidFill>
            <a:prstDash val="solid"/>
          </a:ln>
        </p:spPr>
      </p:sp>
      <p:sp>
        <p:nvSpPr>
          <p:cNvPr id="4" name="Text 2"/>
          <p:cNvSpPr/>
          <p:nvPr/>
        </p:nvSpPr>
        <p:spPr>
          <a:xfrm>
            <a:off x="365760" y="228600"/>
            <a:ext cx="91440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CO5</a:t>
            </a:r>
            <a:endParaRPr lang="en-US" sz="2200" dirty="0"/>
          </a:p>
        </p:txBody>
      </p:sp>
      <p:sp>
        <p:nvSpPr>
          <p:cNvPr id="5" name="Text 3"/>
          <p:cNvSpPr/>
          <p:nvPr/>
        </p:nvSpPr>
        <p:spPr>
          <a:xfrm>
            <a:off x="1417320" y="228600"/>
            <a:ext cx="7223760" cy="82296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Routing, Forms, Accessibility &amp; Performance</a:t>
            </a:r>
            <a:endParaRPr lang="en-US" sz="1800" dirty="0"/>
          </a:p>
        </p:txBody>
      </p:sp>
      <p:sp>
        <p:nvSpPr>
          <p:cNvPr id="6" name="Shape 4"/>
          <p:cNvSpPr/>
          <p:nvPr/>
        </p:nvSpPr>
        <p:spPr>
          <a:xfrm>
            <a:off x="365760" y="1188720"/>
            <a:ext cx="3977640" cy="1965960"/>
          </a:xfrm>
          <a:prstGeom prst="roundRect">
            <a:avLst>
              <a:gd name="adj" fmla="val 4651"/>
            </a:avLst>
          </a:prstGeom>
          <a:solidFill>
            <a:srgbClr val="FFFFFF"/>
          </a:solidFill>
          <a:ln w="12700">
            <a:solidFill>
              <a:srgbClr val="C8E8EC"/>
            </a:solidFill>
            <a:prstDash val="solid"/>
          </a:ln>
          <a:effectLst>
            <a:outerShdw blurRad="101600" dist="38100" dir="2700000" algn="bl" rotWithShape="0">
              <a:srgbClr val="000000">
                <a:alpha val="12000"/>
              </a:srgbClr>
            </a:outerShdw>
          </a:effectLst>
        </p:spPr>
      </p:sp>
      <p:sp>
        <p:nvSpPr>
          <p:cNvPr id="7" name="Text 5"/>
          <p:cNvSpPr/>
          <p:nvPr/>
        </p:nvSpPr>
        <p:spPr>
          <a:xfrm>
            <a:off x="502920" y="1261872"/>
            <a:ext cx="3703320" cy="320040"/>
          </a:xfrm>
          <a:prstGeom prst="rect">
            <a:avLst/>
          </a:prstGeom>
          <a:noFill/>
          <a:ln/>
        </p:spPr>
        <p:txBody>
          <a:bodyPr wrap="square" rtlCol="0" anchor="ctr"/>
          <a:lstStyle/>
          <a:p>
            <a:pPr marL="0" indent="0">
              <a:buNone/>
            </a:pPr>
            <a:r>
              <a:rPr lang="en-US" sz="1200" b="1" dirty="0">
                <a:solidFill>
                  <a:srgbClr val="0D7B8A"/>
                </a:solidFill>
                <a:latin typeface="Calibri" pitchFamily="34" charset="0"/>
                <a:ea typeface="Calibri" pitchFamily="34" charset="-122"/>
                <a:cs typeface="Calibri" pitchFamily="34" charset="-120"/>
              </a:rPr>
              <a:t>What We Learned</a:t>
            </a:r>
            <a:endParaRPr lang="en-US" sz="1200" dirty="0"/>
          </a:p>
        </p:txBody>
      </p:sp>
      <p:sp>
        <p:nvSpPr>
          <p:cNvPr id="8" name="Text 6"/>
          <p:cNvSpPr/>
          <p:nvPr/>
        </p:nvSpPr>
        <p:spPr>
          <a:xfrm>
            <a:off x="502920" y="1600200"/>
            <a:ext cx="3703320" cy="1463040"/>
          </a:xfrm>
          <a:prstGeom prst="rect">
            <a:avLst/>
          </a:prstGeom>
          <a:noFill/>
          <a:ln/>
        </p:spPr>
        <p:txBody>
          <a:bodyPr wrap="square" rtlCol="0" anchor="ctr"/>
          <a:lstStyle/>
          <a:p>
            <a:pPr marL="0" indent="0">
              <a:buNone/>
            </a:pPr>
            <a:r>
              <a:rPr lang="en-US" sz="1100" dirty="0">
                <a:solidFill>
                  <a:srgbClr val="1A2E38"/>
                </a:solidFill>
                <a:latin typeface="Calibri" pitchFamily="34" charset="0"/>
                <a:ea typeface="Calibri" pitchFamily="34" charset="-122"/>
                <a:cs typeface="Calibri" pitchFamily="34" charset="-120"/>
              </a:rPr>
              <a:t>SPA routing fundamentals, dynamic and nested routing, rendering boundaries, protected routes, form validation pipelines, controlled forms, error surfaces, ARIA for accessibility, keyboard flow, color contrast, performance tuning with memoization, lazy loading, and batching.</a:t>
            </a:r>
            <a:endParaRPr lang="en-US" sz="1100" dirty="0"/>
          </a:p>
        </p:txBody>
      </p:sp>
      <p:sp>
        <p:nvSpPr>
          <p:cNvPr id="9" name="Shape 7"/>
          <p:cNvSpPr/>
          <p:nvPr/>
        </p:nvSpPr>
        <p:spPr>
          <a:xfrm>
            <a:off x="4572000" y="1188720"/>
            <a:ext cx="4206240" cy="1965960"/>
          </a:xfrm>
          <a:prstGeom prst="roundRect">
            <a:avLst>
              <a:gd name="adj" fmla="val 4651"/>
            </a:avLst>
          </a:prstGeom>
          <a:solidFill>
            <a:srgbClr val="FFFFFF"/>
          </a:solidFill>
          <a:ln w="12700">
            <a:solidFill>
              <a:srgbClr val="C8E8EC"/>
            </a:solidFill>
            <a:prstDash val="solid"/>
          </a:ln>
          <a:effectLst>
            <a:outerShdw blurRad="101600" dist="38100" dir="2700000" algn="bl" rotWithShape="0">
              <a:srgbClr val="000000">
                <a:alpha val="12000"/>
              </a:srgbClr>
            </a:outerShdw>
          </a:effectLst>
        </p:spPr>
      </p:sp>
      <p:sp>
        <p:nvSpPr>
          <p:cNvPr id="10" name="Text 8"/>
          <p:cNvSpPr/>
          <p:nvPr/>
        </p:nvSpPr>
        <p:spPr>
          <a:xfrm>
            <a:off x="4709160" y="1261872"/>
            <a:ext cx="3931920" cy="320040"/>
          </a:xfrm>
          <a:prstGeom prst="rect">
            <a:avLst/>
          </a:prstGeom>
          <a:noFill/>
          <a:ln/>
        </p:spPr>
        <p:txBody>
          <a:bodyPr wrap="square" rtlCol="0" anchor="ctr"/>
          <a:lstStyle/>
          <a:p>
            <a:pPr marL="0" indent="0">
              <a:buNone/>
            </a:pPr>
            <a:r>
              <a:rPr lang="en-US" sz="1200" b="1" dirty="0">
                <a:solidFill>
                  <a:srgbClr val="0D7B8A"/>
                </a:solidFill>
                <a:latin typeface="Calibri" pitchFamily="34" charset="0"/>
                <a:ea typeface="Calibri" pitchFamily="34" charset="-122"/>
                <a:cs typeface="Calibri" pitchFamily="34" charset="-120"/>
              </a:rPr>
              <a:t>How It's In The Project</a:t>
            </a:r>
            <a:endParaRPr lang="en-US" sz="1200" dirty="0"/>
          </a:p>
        </p:txBody>
      </p:sp>
      <p:sp>
        <p:nvSpPr>
          <p:cNvPr id="11" name="Text 9"/>
          <p:cNvSpPr/>
          <p:nvPr/>
        </p:nvSpPr>
        <p:spPr>
          <a:xfrm>
            <a:off x="4709160" y="1600200"/>
            <a:ext cx="3931920" cy="1463040"/>
          </a:xfrm>
          <a:prstGeom prst="rect">
            <a:avLst/>
          </a:prstGeom>
          <a:noFill/>
          <a:ln/>
        </p:spPr>
        <p:txBody>
          <a:bodyPr wrap="square" rtlCol="0" anchor="ctr"/>
          <a:lstStyle/>
          <a:p>
            <a:pPr marL="0" indent="0">
              <a:buNone/>
            </a:pPr>
            <a:r>
              <a:rPr lang="en-US" sz="1100" dirty="0">
                <a:solidFill>
                  <a:srgbClr val="1A2E38"/>
                </a:solidFill>
                <a:latin typeface="Calibri" pitchFamily="34" charset="0"/>
                <a:ea typeface="Calibri" pitchFamily="34" charset="-122"/>
                <a:cs typeface="Calibri" pitchFamily="34" charset="-120"/>
              </a:rPr>
              <a:t>React Router v6 handles all navigation. ProtectedRoute in App.jsx checks auth before rendering Dashboard. Forms in Login and Signup are fully controlled with validation. VideoInterface uses conditional rendering as a boundary. Components are organized for lazy splitting. The UI maintains color contrast for accessibility.</a:t>
            </a:r>
            <a:endParaRPr lang="en-US" sz="1100" dirty="0"/>
          </a:p>
        </p:txBody>
      </p:sp>
      <p:sp>
        <p:nvSpPr>
          <p:cNvPr id="12" name="Text 10"/>
          <p:cNvSpPr/>
          <p:nvPr/>
        </p:nvSpPr>
        <p:spPr>
          <a:xfrm>
            <a:off x="365760" y="3291840"/>
            <a:ext cx="8412480" cy="274320"/>
          </a:xfrm>
          <a:prstGeom prst="rect">
            <a:avLst/>
          </a:prstGeom>
          <a:noFill/>
          <a:ln/>
        </p:spPr>
        <p:txBody>
          <a:bodyPr wrap="square" rtlCol="0" anchor="ctr"/>
          <a:lstStyle/>
          <a:p>
            <a:pPr marL="0" indent="0">
              <a:buNone/>
            </a:pPr>
            <a:r>
              <a:rPr lang="en-US" sz="1100" b="1" dirty="0">
                <a:solidFill>
                  <a:srgbClr val="5E7A84"/>
                </a:solidFill>
                <a:latin typeface="Calibri" pitchFamily="34" charset="0"/>
                <a:ea typeface="Calibri" pitchFamily="34" charset="-122"/>
                <a:cs typeface="Calibri" pitchFamily="34" charset="-120"/>
              </a:rPr>
              <a:t>Key Components / Files Used:</a:t>
            </a:r>
            <a:endParaRPr lang="en-US" sz="1100" dirty="0"/>
          </a:p>
        </p:txBody>
      </p:sp>
      <p:sp>
        <p:nvSpPr>
          <p:cNvPr id="13" name="Shape 11"/>
          <p:cNvSpPr/>
          <p:nvPr/>
        </p:nvSpPr>
        <p:spPr>
          <a:xfrm>
            <a:off x="365760" y="3611880"/>
            <a:ext cx="2667000" cy="384048"/>
          </a:xfrm>
          <a:prstGeom prst="roundRect">
            <a:avLst>
              <a:gd name="adj" fmla="val 16667"/>
            </a:avLst>
          </a:prstGeom>
          <a:solidFill>
            <a:srgbClr val="0D2B3E"/>
          </a:solidFill>
          <a:ln w="12700">
            <a:solidFill>
              <a:srgbClr val="0D7B8A"/>
            </a:solidFill>
            <a:prstDash val="solid"/>
          </a:ln>
        </p:spPr>
      </p:sp>
      <p:sp>
        <p:nvSpPr>
          <p:cNvPr id="14" name="Text 12"/>
          <p:cNvSpPr/>
          <p:nvPr/>
        </p:nvSpPr>
        <p:spPr>
          <a:xfrm>
            <a:off x="365760" y="3611880"/>
            <a:ext cx="2667000" cy="384048"/>
          </a:xfrm>
          <a:prstGeom prst="rect">
            <a:avLst/>
          </a:prstGeom>
          <a:noFill/>
          <a:ln/>
        </p:spPr>
        <p:txBody>
          <a:bodyPr wrap="square" lIns="0" tIns="0" rIns="0" bIns="0" rtlCol="0" anchor="ctr"/>
          <a:lstStyle/>
          <a:p>
            <a:pPr marL="0" indent="0" algn="ctr">
              <a:buNone/>
            </a:pPr>
            <a:r>
              <a:rPr lang="en-US" sz="1000" dirty="0">
                <a:solidFill>
                  <a:srgbClr val="C8E8EC"/>
                </a:solidFill>
                <a:latin typeface="Calibri" pitchFamily="34" charset="0"/>
                <a:ea typeface="Calibri" pitchFamily="34" charset="-122"/>
                <a:cs typeface="Calibri" pitchFamily="34" charset="-120"/>
              </a:rPr>
              <a:t>App.jsx — Routes + ProtectedRoute</a:t>
            </a:r>
            <a:endParaRPr lang="en-US" sz="1000" dirty="0"/>
          </a:p>
        </p:txBody>
      </p:sp>
      <p:sp>
        <p:nvSpPr>
          <p:cNvPr id="15" name="Shape 13"/>
          <p:cNvSpPr/>
          <p:nvPr/>
        </p:nvSpPr>
        <p:spPr>
          <a:xfrm>
            <a:off x="3169920" y="3611880"/>
            <a:ext cx="2667000" cy="384048"/>
          </a:xfrm>
          <a:prstGeom prst="roundRect">
            <a:avLst>
              <a:gd name="adj" fmla="val 16667"/>
            </a:avLst>
          </a:prstGeom>
          <a:solidFill>
            <a:srgbClr val="0D2B3E"/>
          </a:solidFill>
          <a:ln w="12700">
            <a:solidFill>
              <a:srgbClr val="0D7B8A"/>
            </a:solidFill>
            <a:prstDash val="solid"/>
          </a:ln>
        </p:spPr>
      </p:sp>
      <p:sp>
        <p:nvSpPr>
          <p:cNvPr id="16" name="Text 14"/>
          <p:cNvSpPr/>
          <p:nvPr/>
        </p:nvSpPr>
        <p:spPr>
          <a:xfrm>
            <a:off x="3169920" y="3611880"/>
            <a:ext cx="2667000" cy="384048"/>
          </a:xfrm>
          <a:prstGeom prst="rect">
            <a:avLst/>
          </a:prstGeom>
          <a:noFill/>
          <a:ln/>
        </p:spPr>
        <p:txBody>
          <a:bodyPr wrap="square" lIns="0" tIns="0" rIns="0" bIns="0" rtlCol="0" anchor="ctr"/>
          <a:lstStyle/>
          <a:p>
            <a:pPr marL="0" indent="0" algn="ctr">
              <a:buNone/>
            </a:pPr>
            <a:r>
              <a:rPr lang="en-US" sz="1000" dirty="0">
                <a:solidFill>
                  <a:srgbClr val="C8E8EC"/>
                </a:solidFill>
                <a:latin typeface="Calibri" pitchFamily="34" charset="0"/>
                <a:ea typeface="Calibri" pitchFamily="34" charset="-122"/>
                <a:cs typeface="Calibri" pitchFamily="34" charset="-120"/>
              </a:rPr>
              <a:t>Login.jsx — form validation</a:t>
            </a:r>
            <a:endParaRPr lang="en-US" sz="1000" dirty="0"/>
          </a:p>
        </p:txBody>
      </p:sp>
      <p:sp>
        <p:nvSpPr>
          <p:cNvPr id="17" name="Shape 15"/>
          <p:cNvSpPr/>
          <p:nvPr/>
        </p:nvSpPr>
        <p:spPr>
          <a:xfrm>
            <a:off x="5974080" y="3611880"/>
            <a:ext cx="2667000" cy="384048"/>
          </a:xfrm>
          <a:prstGeom prst="roundRect">
            <a:avLst>
              <a:gd name="adj" fmla="val 16667"/>
            </a:avLst>
          </a:prstGeom>
          <a:solidFill>
            <a:srgbClr val="0D2B3E"/>
          </a:solidFill>
          <a:ln w="12700">
            <a:solidFill>
              <a:srgbClr val="0D7B8A"/>
            </a:solidFill>
            <a:prstDash val="solid"/>
          </a:ln>
        </p:spPr>
      </p:sp>
      <p:sp>
        <p:nvSpPr>
          <p:cNvPr id="18" name="Text 16"/>
          <p:cNvSpPr/>
          <p:nvPr/>
        </p:nvSpPr>
        <p:spPr>
          <a:xfrm>
            <a:off x="5974080" y="3611880"/>
            <a:ext cx="2667000" cy="384048"/>
          </a:xfrm>
          <a:prstGeom prst="rect">
            <a:avLst/>
          </a:prstGeom>
          <a:noFill/>
          <a:ln/>
        </p:spPr>
        <p:txBody>
          <a:bodyPr wrap="square" lIns="0" tIns="0" rIns="0" bIns="0" rtlCol="0" anchor="ctr"/>
          <a:lstStyle/>
          <a:p>
            <a:pPr marL="0" indent="0" algn="ctr">
              <a:buNone/>
            </a:pPr>
            <a:r>
              <a:rPr lang="en-US" sz="1000" dirty="0">
                <a:solidFill>
                  <a:srgbClr val="C8E8EC"/>
                </a:solidFill>
                <a:latin typeface="Calibri" pitchFamily="34" charset="0"/>
                <a:ea typeface="Calibri" pitchFamily="34" charset="-122"/>
                <a:cs typeface="Calibri" pitchFamily="34" charset="-120"/>
              </a:rPr>
              <a:t>Signup.jsx — error surface</a:t>
            </a:r>
            <a:endParaRPr lang="en-US" sz="1000" dirty="0"/>
          </a:p>
        </p:txBody>
      </p:sp>
      <p:sp>
        <p:nvSpPr>
          <p:cNvPr id="19" name="Shape 17"/>
          <p:cNvSpPr/>
          <p:nvPr/>
        </p:nvSpPr>
        <p:spPr>
          <a:xfrm>
            <a:off x="365760" y="4114800"/>
            <a:ext cx="2667000" cy="384048"/>
          </a:xfrm>
          <a:prstGeom prst="roundRect">
            <a:avLst>
              <a:gd name="adj" fmla="val 16667"/>
            </a:avLst>
          </a:prstGeom>
          <a:solidFill>
            <a:srgbClr val="0D2B3E"/>
          </a:solidFill>
          <a:ln w="12700">
            <a:solidFill>
              <a:srgbClr val="0D7B8A"/>
            </a:solidFill>
            <a:prstDash val="solid"/>
          </a:ln>
        </p:spPr>
      </p:sp>
      <p:sp>
        <p:nvSpPr>
          <p:cNvPr id="20" name="Text 18"/>
          <p:cNvSpPr/>
          <p:nvPr/>
        </p:nvSpPr>
        <p:spPr>
          <a:xfrm>
            <a:off x="365760" y="4114800"/>
            <a:ext cx="2667000" cy="384048"/>
          </a:xfrm>
          <a:prstGeom prst="rect">
            <a:avLst/>
          </a:prstGeom>
          <a:noFill/>
          <a:ln/>
        </p:spPr>
        <p:txBody>
          <a:bodyPr wrap="square" lIns="0" tIns="0" rIns="0" bIns="0" rtlCol="0" anchor="ctr"/>
          <a:lstStyle/>
          <a:p>
            <a:pPr marL="0" indent="0" algn="ctr">
              <a:buNone/>
            </a:pPr>
            <a:r>
              <a:rPr lang="en-US" sz="1000" dirty="0">
                <a:solidFill>
                  <a:srgbClr val="C8E8EC"/>
                </a:solidFill>
                <a:latin typeface="Calibri" pitchFamily="34" charset="0"/>
                <a:ea typeface="Calibri" pitchFamily="34" charset="-122"/>
                <a:cs typeface="Calibri" pitchFamily="34" charset="-120"/>
              </a:rPr>
              <a:t>React Router DOM — SPA routing</a:t>
            </a:r>
            <a:endParaRPr lang="en-US" sz="1000" dirty="0"/>
          </a:p>
        </p:txBody>
      </p:sp>
      <p:sp>
        <p:nvSpPr>
          <p:cNvPr id="21" name="Shape 19"/>
          <p:cNvSpPr/>
          <p:nvPr/>
        </p:nvSpPr>
        <p:spPr>
          <a:xfrm>
            <a:off x="3169920" y="4114800"/>
            <a:ext cx="2667000" cy="384048"/>
          </a:xfrm>
          <a:prstGeom prst="roundRect">
            <a:avLst>
              <a:gd name="adj" fmla="val 16667"/>
            </a:avLst>
          </a:prstGeom>
          <a:solidFill>
            <a:srgbClr val="0D2B3E"/>
          </a:solidFill>
          <a:ln w="12700">
            <a:solidFill>
              <a:srgbClr val="0D7B8A"/>
            </a:solidFill>
            <a:prstDash val="solid"/>
          </a:ln>
        </p:spPr>
      </p:sp>
      <p:sp>
        <p:nvSpPr>
          <p:cNvPr id="22" name="Text 20"/>
          <p:cNvSpPr/>
          <p:nvPr/>
        </p:nvSpPr>
        <p:spPr>
          <a:xfrm>
            <a:off x="3169920" y="4114800"/>
            <a:ext cx="2667000" cy="384048"/>
          </a:xfrm>
          <a:prstGeom prst="rect">
            <a:avLst/>
          </a:prstGeom>
          <a:noFill/>
          <a:ln/>
        </p:spPr>
        <p:txBody>
          <a:bodyPr wrap="square" lIns="0" tIns="0" rIns="0" bIns="0" rtlCol="0" anchor="ctr"/>
          <a:lstStyle/>
          <a:p>
            <a:pPr marL="0" indent="0" algn="ctr">
              <a:buNone/>
            </a:pPr>
            <a:r>
              <a:rPr lang="en-US" sz="1000" dirty="0">
                <a:solidFill>
                  <a:srgbClr val="C8E8EC"/>
                </a:solidFill>
                <a:latin typeface="Calibri" pitchFamily="34" charset="0"/>
                <a:ea typeface="Calibri" pitchFamily="34" charset="-122"/>
                <a:cs typeface="Calibri" pitchFamily="34" charset="-120"/>
              </a:rPr>
              <a:t>Navigate — redirect on auth fail</a:t>
            </a:r>
            <a:endParaRPr lang="en-US" sz="1000" dirty="0"/>
          </a:p>
        </p:txBody>
      </p:sp>
      <p:sp>
        <p:nvSpPr>
          <p:cNvPr id="23" name="Shape 21"/>
          <p:cNvSpPr/>
          <p:nvPr/>
        </p:nvSpPr>
        <p:spPr>
          <a:xfrm>
            <a:off x="5974080" y="4114800"/>
            <a:ext cx="2667000" cy="384048"/>
          </a:xfrm>
          <a:prstGeom prst="roundRect">
            <a:avLst>
              <a:gd name="adj" fmla="val 16667"/>
            </a:avLst>
          </a:prstGeom>
          <a:solidFill>
            <a:srgbClr val="0D2B3E"/>
          </a:solidFill>
          <a:ln w="12700">
            <a:solidFill>
              <a:srgbClr val="0D7B8A"/>
            </a:solidFill>
            <a:prstDash val="solid"/>
          </a:ln>
        </p:spPr>
      </p:sp>
      <p:sp>
        <p:nvSpPr>
          <p:cNvPr id="24" name="Text 22"/>
          <p:cNvSpPr/>
          <p:nvPr/>
        </p:nvSpPr>
        <p:spPr>
          <a:xfrm>
            <a:off x="5974080" y="4114800"/>
            <a:ext cx="2667000" cy="384048"/>
          </a:xfrm>
          <a:prstGeom prst="rect">
            <a:avLst/>
          </a:prstGeom>
          <a:noFill/>
          <a:ln/>
        </p:spPr>
        <p:txBody>
          <a:bodyPr wrap="square" lIns="0" tIns="0" rIns="0" bIns="0" rtlCol="0" anchor="ctr"/>
          <a:lstStyle/>
          <a:p>
            <a:pPr marL="0" indent="0" algn="ctr">
              <a:buNone/>
            </a:pPr>
            <a:r>
              <a:rPr lang="en-US" sz="1000" dirty="0">
                <a:solidFill>
                  <a:srgbClr val="C8E8EC"/>
                </a:solidFill>
                <a:latin typeface="Calibri" pitchFamily="34" charset="0"/>
                <a:ea typeface="Calibri" pitchFamily="34" charset="-122"/>
                <a:cs typeface="Calibri" pitchFamily="34" charset="-120"/>
              </a:rPr>
              <a:t>VideoInterface — render boundary</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9FA"/>
        </a:solidFill>
        <a:effectLst/>
      </p:bgPr>
    </p:bg>
    <p:spTree>
      <p:nvGrpSpPr>
        <p:cNvPr id="1" name=""/>
        <p:cNvGrpSpPr/>
        <p:nvPr/>
      </p:nvGrpSpPr>
      <p:grpSpPr>
        <a:xfrm>
          <a:off x="0" y="0"/>
          <a:ext cx="0" cy="0"/>
          <a:chOff x="0" y="0"/>
          <a:chExt cx="0" cy="0"/>
        </a:xfrm>
      </p:grpSpPr>
      <p:sp>
        <p:nvSpPr>
          <p:cNvPr id="2" name="Shape 0"/>
          <p:cNvSpPr/>
          <p:nvPr/>
        </p:nvSpPr>
        <p:spPr>
          <a:xfrm>
            <a:off x="365760" y="228600"/>
            <a:ext cx="8412480" cy="822960"/>
          </a:xfrm>
          <a:prstGeom prst="roundRect">
            <a:avLst>
              <a:gd name="adj" fmla="val 11111"/>
            </a:avLst>
          </a:prstGeom>
          <a:solidFill>
            <a:srgbClr val="0D7B8A"/>
          </a:solidFill>
          <a:ln w="12700">
            <a:solidFill>
              <a:srgbClr val="0D7B8A"/>
            </a:solidFill>
            <a:prstDash val="solid"/>
          </a:ln>
          <a:effectLst>
            <a:outerShdw blurRad="101600" dist="38100" dir="2700000" algn="bl" rotWithShape="0">
              <a:srgbClr val="000000">
                <a:alpha val="12000"/>
              </a:srgbClr>
            </a:outerShdw>
          </a:effectLst>
        </p:spPr>
      </p:sp>
      <p:sp>
        <p:nvSpPr>
          <p:cNvPr id="3" name="Shape 1"/>
          <p:cNvSpPr/>
          <p:nvPr/>
        </p:nvSpPr>
        <p:spPr>
          <a:xfrm>
            <a:off x="365760" y="228600"/>
            <a:ext cx="914400" cy="822960"/>
          </a:xfrm>
          <a:prstGeom prst="roundRect">
            <a:avLst>
              <a:gd name="adj" fmla="val 11111"/>
            </a:avLst>
          </a:prstGeom>
          <a:solidFill>
            <a:srgbClr val="0D2B3E"/>
          </a:solidFill>
          <a:ln w="12700">
            <a:solidFill>
              <a:srgbClr val="0D2B3E"/>
            </a:solidFill>
            <a:prstDash val="solid"/>
          </a:ln>
        </p:spPr>
      </p:sp>
      <p:sp>
        <p:nvSpPr>
          <p:cNvPr id="4" name="Text 2"/>
          <p:cNvSpPr/>
          <p:nvPr/>
        </p:nvSpPr>
        <p:spPr>
          <a:xfrm>
            <a:off x="365760" y="228600"/>
            <a:ext cx="91440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CO6</a:t>
            </a:r>
            <a:endParaRPr lang="en-US" sz="2200" dirty="0"/>
          </a:p>
        </p:txBody>
      </p:sp>
      <p:sp>
        <p:nvSpPr>
          <p:cNvPr id="5" name="Text 3"/>
          <p:cNvSpPr/>
          <p:nvPr/>
        </p:nvSpPr>
        <p:spPr>
          <a:xfrm>
            <a:off x="1417320" y="228600"/>
            <a:ext cx="7223760" cy="82296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Build Systems, Testing, CI/CD &amp; Deployment</a:t>
            </a:r>
            <a:endParaRPr lang="en-US" sz="1800" dirty="0"/>
          </a:p>
        </p:txBody>
      </p:sp>
      <p:sp>
        <p:nvSpPr>
          <p:cNvPr id="6" name="Shape 4"/>
          <p:cNvSpPr/>
          <p:nvPr/>
        </p:nvSpPr>
        <p:spPr>
          <a:xfrm>
            <a:off x="365760" y="1188720"/>
            <a:ext cx="3977640" cy="1965960"/>
          </a:xfrm>
          <a:prstGeom prst="roundRect">
            <a:avLst>
              <a:gd name="adj" fmla="val 4651"/>
            </a:avLst>
          </a:prstGeom>
          <a:solidFill>
            <a:srgbClr val="FFFFFF"/>
          </a:solidFill>
          <a:ln w="12700">
            <a:solidFill>
              <a:srgbClr val="C8E8EC"/>
            </a:solidFill>
            <a:prstDash val="solid"/>
          </a:ln>
          <a:effectLst>
            <a:outerShdw blurRad="101600" dist="38100" dir="2700000" algn="bl" rotWithShape="0">
              <a:srgbClr val="000000">
                <a:alpha val="12000"/>
              </a:srgbClr>
            </a:outerShdw>
          </a:effectLst>
        </p:spPr>
      </p:sp>
      <p:sp>
        <p:nvSpPr>
          <p:cNvPr id="7" name="Text 5"/>
          <p:cNvSpPr/>
          <p:nvPr/>
        </p:nvSpPr>
        <p:spPr>
          <a:xfrm>
            <a:off x="502920" y="1261872"/>
            <a:ext cx="3703320" cy="320040"/>
          </a:xfrm>
          <a:prstGeom prst="rect">
            <a:avLst/>
          </a:prstGeom>
          <a:noFill/>
          <a:ln/>
        </p:spPr>
        <p:txBody>
          <a:bodyPr wrap="square" rtlCol="0" anchor="ctr"/>
          <a:lstStyle/>
          <a:p>
            <a:pPr marL="0" indent="0">
              <a:buNone/>
            </a:pPr>
            <a:r>
              <a:rPr lang="en-US" sz="1200" b="1" dirty="0">
                <a:solidFill>
                  <a:srgbClr val="0D7B8A"/>
                </a:solidFill>
                <a:latin typeface="Calibri" pitchFamily="34" charset="0"/>
                <a:ea typeface="Calibri" pitchFamily="34" charset="-122"/>
                <a:cs typeface="Calibri" pitchFamily="34" charset="-120"/>
              </a:rPr>
              <a:t>What We Learned</a:t>
            </a:r>
            <a:endParaRPr lang="en-US" sz="1200" dirty="0"/>
          </a:p>
        </p:txBody>
      </p:sp>
      <p:sp>
        <p:nvSpPr>
          <p:cNvPr id="8" name="Text 6"/>
          <p:cNvSpPr/>
          <p:nvPr/>
        </p:nvSpPr>
        <p:spPr>
          <a:xfrm>
            <a:off x="502920" y="1600200"/>
            <a:ext cx="3703320" cy="1463040"/>
          </a:xfrm>
          <a:prstGeom prst="rect">
            <a:avLst/>
          </a:prstGeom>
          <a:noFill/>
          <a:ln/>
        </p:spPr>
        <p:txBody>
          <a:bodyPr wrap="square" rtlCol="0" anchor="ctr"/>
          <a:lstStyle/>
          <a:p>
            <a:pPr marL="0" indent="0">
              <a:buNone/>
            </a:pPr>
            <a:r>
              <a:rPr lang="en-US" sz="1100" dirty="0">
                <a:solidFill>
                  <a:srgbClr val="1A2E38"/>
                </a:solidFill>
                <a:latin typeface="Calibri" pitchFamily="34" charset="0"/>
                <a:ea typeface="Calibri" pitchFamily="34" charset="-122"/>
                <a:cs typeface="Calibri" pitchFamily="34" charset="-120"/>
              </a:rPr>
              <a:t>Why bundlers exist, Vite/Webpack engineering flow, bundling, tree-shaking, minification, asset optimization, environment configs, error reporting, linting/formatting, React testing with Jest &amp; RTL, CI/CD pipeline design, cloud deployment (Netlify/Vercel), performance via Lighthouse.</a:t>
            </a:r>
            <a:endParaRPr lang="en-US" sz="1100" dirty="0"/>
          </a:p>
        </p:txBody>
      </p:sp>
      <p:sp>
        <p:nvSpPr>
          <p:cNvPr id="9" name="Shape 7"/>
          <p:cNvSpPr/>
          <p:nvPr/>
        </p:nvSpPr>
        <p:spPr>
          <a:xfrm>
            <a:off x="4572000" y="1188720"/>
            <a:ext cx="4206240" cy="1965960"/>
          </a:xfrm>
          <a:prstGeom prst="roundRect">
            <a:avLst>
              <a:gd name="adj" fmla="val 4651"/>
            </a:avLst>
          </a:prstGeom>
          <a:solidFill>
            <a:srgbClr val="FFFFFF"/>
          </a:solidFill>
          <a:ln w="12700">
            <a:solidFill>
              <a:srgbClr val="C8E8EC"/>
            </a:solidFill>
            <a:prstDash val="solid"/>
          </a:ln>
          <a:effectLst>
            <a:outerShdw blurRad="101600" dist="38100" dir="2700000" algn="bl" rotWithShape="0">
              <a:srgbClr val="000000">
                <a:alpha val="12000"/>
              </a:srgbClr>
            </a:outerShdw>
          </a:effectLst>
        </p:spPr>
      </p:sp>
      <p:sp>
        <p:nvSpPr>
          <p:cNvPr id="10" name="Text 8"/>
          <p:cNvSpPr/>
          <p:nvPr/>
        </p:nvSpPr>
        <p:spPr>
          <a:xfrm>
            <a:off x="4709160" y="1261872"/>
            <a:ext cx="3931920" cy="320040"/>
          </a:xfrm>
          <a:prstGeom prst="rect">
            <a:avLst/>
          </a:prstGeom>
          <a:noFill/>
          <a:ln/>
        </p:spPr>
        <p:txBody>
          <a:bodyPr wrap="square" rtlCol="0" anchor="ctr"/>
          <a:lstStyle/>
          <a:p>
            <a:pPr marL="0" indent="0">
              <a:buNone/>
            </a:pPr>
            <a:r>
              <a:rPr lang="en-US" sz="1200" b="1" dirty="0">
                <a:solidFill>
                  <a:srgbClr val="0D7B8A"/>
                </a:solidFill>
                <a:latin typeface="Calibri" pitchFamily="34" charset="0"/>
                <a:ea typeface="Calibri" pitchFamily="34" charset="-122"/>
                <a:cs typeface="Calibri" pitchFamily="34" charset="-120"/>
              </a:rPr>
              <a:t>How It's In The Project</a:t>
            </a:r>
            <a:endParaRPr lang="en-US" sz="1200" dirty="0"/>
          </a:p>
        </p:txBody>
      </p:sp>
      <p:sp>
        <p:nvSpPr>
          <p:cNvPr id="11" name="Text 9"/>
          <p:cNvSpPr/>
          <p:nvPr/>
        </p:nvSpPr>
        <p:spPr>
          <a:xfrm>
            <a:off x="4709160" y="1600200"/>
            <a:ext cx="3931920" cy="1463040"/>
          </a:xfrm>
          <a:prstGeom prst="rect">
            <a:avLst/>
          </a:prstGeom>
          <a:noFill/>
          <a:ln/>
        </p:spPr>
        <p:txBody>
          <a:bodyPr wrap="square" rtlCol="0" anchor="ctr"/>
          <a:lstStyle/>
          <a:p>
            <a:pPr marL="0" indent="0">
              <a:buNone/>
            </a:pPr>
            <a:r>
              <a:rPr lang="en-US" sz="1100" dirty="0">
                <a:solidFill>
                  <a:srgbClr val="1A2E38"/>
                </a:solidFill>
                <a:latin typeface="Calibri" pitchFamily="34" charset="0"/>
                <a:ea typeface="Calibri" pitchFamily="34" charset="-122"/>
                <a:cs typeface="Calibri" pitchFamily="34" charset="-120"/>
              </a:rPr>
              <a:t>Vite is used as the build tool — it provides lightning-fast HMR and produces an optimized dist/ folder. ESLint is configured in eslint.config.js for code quality. The project includes a dist/ build artifact with minified assets and hashed filenames. The app is deployment-ready for Netlify or Vercel.</a:t>
            </a:r>
            <a:endParaRPr lang="en-US" sz="1100" dirty="0"/>
          </a:p>
        </p:txBody>
      </p:sp>
      <p:sp>
        <p:nvSpPr>
          <p:cNvPr id="12" name="Text 10"/>
          <p:cNvSpPr/>
          <p:nvPr/>
        </p:nvSpPr>
        <p:spPr>
          <a:xfrm>
            <a:off x="365760" y="3291840"/>
            <a:ext cx="8412480" cy="274320"/>
          </a:xfrm>
          <a:prstGeom prst="rect">
            <a:avLst/>
          </a:prstGeom>
          <a:noFill/>
          <a:ln/>
        </p:spPr>
        <p:txBody>
          <a:bodyPr wrap="square" rtlCol="0" anchor="ctr"/>
          <a:lstStyle/>
          <a:p>
            <a:pPr marL="0" indent="0">
              <a:buNone/>
            </a:pPr>
            <a:r>
              <a:rPr lang="en-US" sz="1100" b="1" dirty="0">
                <a:solidFill>
                  <a:srgbClr val="5E7A84"/>
                </a:solidFill>
                <a:latin typeface="Calibri" pitchFamily="34" charset="0"/>
                <a:ea typeface="Calibri" pitchFamily="34" charset="-122"/>
                <a:cs typeface="Calibri" pitchFamily="34" charset="-120"/>
              </a:rPr>
              <a:t>Key Components / Files Used:</a:t>
            </a:r>
            <a:endParaRPr lang="en-US" sz="1100" dirty="0"/>
          </a:p>
        </p:txBody>
      </p:sp>
      <p:sp>
        <p:nvSpPr>
          <p:cNvPr id="13" name="Shape 11"/>
          <p:cNvSpPr/>
          <p:nvPr/>
        </p:nvSpPr>
        <p:spPr>
          <a:xfrm>
            <a:off x="365760" y="3611880"/>
            <a:ext cx="2667000" cy="384048"/>
          </a:xfrm>
          <a:prstGeom prst="roundRect">
            <a:avLst>
              <a:gd name="adj" fmla="val 16667"/>
            </a:avLst>
          </a:prstGeom>
          <a:solidFill>
            <a:srgbClr val="0D2B3E"/>
          </a:solidFill>
          <a:ln w="12700">
            <a:solidFill>
              <a:srgbClr val="0D7B8A"/>
            </a:solidFill>
            <a:prstDash val="solid"/>
          </a:ln>
        </p:spPr>
      </p:sp>
      <p:sp>
        <p:nvSpPr>
          <p:cNvPr id="14" name="Text 12"/>
          <p:cNvSpPr/>
          <p:nvPr/>
        </p:nvSpPr>
        <p:spPr>
          <a:xfrm>
            <a:off x="365760" y="3611880"/>
            <a:ext cx="2667000" cy="384048"/>
          </a:xfrm>
          <a:prstGeom prst="rect">
            <a:avLst/>
          </a:prstGeom>
          <a:noFill/>
          <a:ln/>
        </p:spPr>
        <p:txBody>
          <a:bodyPr wrap="square" lIns="0" tIns="0" rIns="0" bIns="0" rtlCol="0" anchor="ctr"/>
          <a:lstStyle/>
          <a:p>
            <a:pPr marL="0" indent="0" algn="ctr">
              <a:buNone/>
            </a:pPr>
            <a:r>
              <a:rPr lang="en-US" sz="1000" dirty="0">
                <a:solidFill>
                  <a:srgbClr val="C8E8EC"/>
                </a:solidFill>
                <a:latin typeface="Calibri" pitchFamily="34" charset="0"/>
                <a:ea typeface="Calibri" pitchFamily="34" charset="-122"/>
                <a:cs typeface="Calibri" pitchFamily="34" charset="-120"/>
              </a:rPr>
              <a:t>vite.config.js — build config</a:t>
            </a:r>
            <a:endParaRPr lang="en-US" sz="1000" dirty="0"/>
          </a:p>
        </p:txBody>
      </p:sp>
      <p:sp>
        <p:nvSpPr>
          <p:cNvPr id="15" name="Shape 13"/>
          <p:cNvSpPr/>
          <p:nvPr/>
        </p:nvSpPr>
        <p:spPr>
          <a:xfrm>
            <a:off x="3169920" y="3611880"/>
            <a:ext cx="2667000" cy="384048"/>
          </a:xfrm>
          <a:prstGeom prst="roundRect">
            <a:avLst>
              <a:gd name="adj" fmla="val 16667"/>
            </a:avLst>
          </a:prstGeom>
          <a:solidFill>
            <a:srgbClr val="0D2B3E"/>
          </a:solidFill>
          <a:ln w="12700">
            <a:solidFill>
              <a:srgbClr val="0D7B8A"/>
            </a:solidFill>
            <a:prstDash val="solid"/>
          </a:ln>
        </p:spPr>
      </p:sp>
      <p:sp>
        <p:nvSpPr>
          <p:cNvPr id="16" name="Text 14"/>
          <p:cNvSpPr/>
          <p:nvPr/>
        </p:nvSpPr>
        <p:spPr>
          <a:xfrm>
            <a:off x="3169920" y="3611880"/>
            <a:ext cx="2667000" cy="384048"/>
          </a:xfrm>
          <a:prstGeom prst="rect">
            <a:avLst/>
          </a:prstGeom>
          <a:noFill/>
          <a:ln/>
        </p:spPr>
        <p:txBody>
          <a:bodyPr wrap="square" lIns="0" tIns="0" rIns="0" bIns="0" rtlCol="0" anchor="ctr"/>
          <a:lstStyle/>
          <a:p>
            <a:pPr marL="0" indent="0" algn="ctr">
              <a:buNone/>
            </a:pPr>
            <a:r>
              <a:rPr lang="en-US" sz="1000" dirty="0">
                <a:solidFill>
                  <a:srgbClr val="C8E8EC"/>
                </a:solidFill>
                <a:latin typeface="Calibri" pitchFamily="34" charset="0"/>
                <a:ea typeface="Calibri" pitchFamily="34" charset="-122"/>
                <a:cs typeface="Calibri" pitchFamily="34" charset="-120"/>
              </a:rPr>
              <a:t>eslint.config.js — lint rules</a:t>
            </a:r>
            <a:endParaRPr lang="en-US" sz="1000" dirty="0"/>
          </a:p>
        </p:txBody>
      </p:sp>
      <p:sp>
        <p:nvSpPr>
          <p:cNvPr id="17" name="Shape 15"/>
          <p:cNvSpPr/>
          <p:nvPr/>
        </p:nvSpPr>
        <p:spPr>
          <a:xfrm>
            <a:off x="5974080" y="3611880"/>
            <a:ext cx="2667000" cy="384048"/>
          </a:xfrm>
          <a:prstGeom prst="roundRect">
            <a:avLst>
              <a:gd name="adj" fmla="val 16667"/>
            </a:avLst>
          </a:prstGeom>
          <a:solidFill>
            <a:srgbClr val="0D2B3E"/>
          </a:solidFill>
          <a:ln w="12700">
            <a:solidFill>
              <a:srgbClr val="0D7B8A"/>
            </a:solidFill>
            <a:prstDash val="solid"/>
          </a:ln>
        </p:spPr>
      </p:sp>
      <p:sp>
        <p:nvSpPr>
          <p:cNvPr id="18" name="Text 16"/>
          <p:cNvSpPr/>
          <p:nvPr/>
        </p:nvSpPr>
        <p:spPr>
          <a:xfrm>
            <a:off x="5974080" y="3611880"/>
            <a:ext cx="2667000" cy="384048"/>
          </a:xfrm>
          <a:prstGeom prst="rect">
            <a:avLst/>
          </a:prstGeom>
          <a:noFill/>
          <a:ln/>
        </p:spPr>
        <p:txBody>
          <a:bodyPr wrap="square" lIns="0" tIns="0" rIns="0" bIns="0" rtlCol="0" anchor="ctr"/>
          <a:lstStyle/>
          <a:p>
            <a:pPr marL="0" indent="0" algn="ctr">
              <a:buNone/>
            </a:pPr>
            <a:r>
              <a:rPr lang="en-US" sz="1000" dirty="0">
                <a:solidFill>
                  <a:srgbClr val="C8E8EC"/>
                </a:solidFill>
                <a:latin typeface="Calibri" pitchFamily="34" charset="0"/>
                <a:ea typeface="Calibri" pitchFamily="34" charset="-122"/>
                <a:cs typeface="Calibri" pitchFamily="34" charset="-120"/>
              </a:rPr>
              <a:t>dist/ folder — production build</a:t>
            </a:r>
            <a:endParaRPr lang="en-US" sz="1000" dirty="0"/>
          </a:p>
        </p:txBody>
      </p:sp>
      <p:sp>
        <p:nvSpPr>
          <p:cNvPr id="19" name="Shape 17"/>
          <p:cNvSpPr/>
          <p:nvPr/>
        </p:nvSpPr>
        <p:spPr>
          <a:xfrm>
            <a:off x="365760" y="4114800"/>
            <a:ext cx="2667000" cy="384048"/>
          </a:xfrm>
          <a:prstGeom prst="roundRect">
            <a:avLst>
              <a:gd name="adj" fmla="val 16667"/>
            </a:avLst>
          </a:prstGeom>
          <a:solidFill>
            <a:srgbClr val="0D2B3E"/>
          </a:solidFill>
          <a:ln w="12700">
            <a:solidFill>
              <a:srgbClr val="0D7B8A"/>
            </a:solidFill>
            <a:prstDash val="solid"/>
          </a:ln>
        </p:spPr>
      </p:sp>
      <p:sp>
        <p:nvSpPr>
          <p:cNvPr id="20" name="Text 18"/>
          <p:cNvSpPr/>
          <p:nvPr/>
        </p:nvSpPr>
        <p:spPr>
          <a:xfrm>
            <a:off x="365760" y="4114800"/>
            <a:ext cx="2667000" cy="384048"/>
          </a:xfrm>
          <a:prstGeom prst="rect">
            <a:avLst/>
          </a:prstGeom>
          <a:noFill/>
          <a:ln/>
        </p:spPr>
        <p:txBody>
          <a:bodyPr wrap="square" lIns="0" tIns="0" rIns="0" bIns="0" rtlCol="0" anchor="ctr"/>
          <a:lstStyle/>
          <a:p>
            <a:pPr marL="0" indent="0" algn="ctr">
              <a:buNone/>
            </a:pPr>
            <a:r>
              <a:rPr lang="en-US" sz="1000" dirty="0">
                <a:solidFill>
                  <a:srgbClr val="C8E8EC"/>
                </a:solidFill>
                <a:latin typeface="Calibri" pitchFamily="34" charset="0"/>
                <a:ea typeface="Calibri" pitchFamily="34" charset="-122"/>
                <a:cs typeface="Calibri" pitchFamily="34" charset="-120"/>
              </a:rPr>
              <a:t>dist/assets/index-*.js — bundled</a:t>
            </a:r>
            <a:endParaRPr lang="en-US" sz="1000" dirty="0"/>
          </a:p>
        </p:txBody>
      </p:sp>
      <p:sp>
        <p:nvSpPr>
          <p:cNvPr id="21" name="Shape 19"/>
          <p:cNvSpPr/>
          <p:nvPr/>
        </p:nvSpPr>
        <p:spPr>
          <a:xfrm>
            <a:off x="3169920" y="4114800"/>
            <a:ext cx="2667000" cy="384048"/>
          </a:xfrm>
          <a:prstGeom prst="roundRect">
            <a:avLst>
              <a:gd name="adj" fmla="val 16667"/>
            </a:avLst>
          </a:prstGeom>
          <a:solidFill>
            <a:srgbClr val="0D2B3E"/>
          </a:solidFill>
          <a:ln w="12700">
            <a:solidFill>
              <a:srgbClr val="0D7B8A"/>
            </a:solidFill>
            <a:prstDash val="solid"/>
          </a:ln>
        </p:spPr>
      </p:sp>
      <p:sp>
        <p:nvSpPr>
          <p:cNvPr id="22" name="Text 20"/>
          <p:cNvSpPr/>
          <p:nvPr/>
        </p:nvSpPr>
        <p:spPr>
          <a:xfrm>
            <a:off x="3169920" y="4114800"/>
            <a:ext cx="2667000" cy="384048"/>
          </a:xfrm>
          <a:prstGeom prst="rect">
            <a:avLst/>
          </a:prstGeom>
          <a:noFill/>
          <a:ln/>
        </p:spPr>
        <p:txBody>
          <a:bodyPr wrap="square" lIns="0" tIns="0" rIns="0" bIns="0" rtlCol="0" anchor="ctr"/>
          <a:lstStyle/>
          <a:p>
            <a:pPr marL="0" indent="0" algn="ctr">
              <a:buNone/>
            </a:pPr>
            <a:r>
              <a:rPr lang="en-US" sz="1000" dirty="0">
                <a:solidFill>
                  <a:srgbClr val="C8E8EC"/>
                </a:solidFill>
                <a:latin typeface="Calibri" pitchFamily="34" charset="0"/>
                <a:ea typeface="Calibri" pitchFamily="34" charset="-122"/>
                <a:cs typeface="Calibri" pitchFamily="34" charset="-120"/>
              </a:rPr>
              <a:t>dist/assets/index-*.css — minified</a:t>
            </a:r>
            <a:endParaRPr lang="en-US" sz="1000" dirty="0"/>
          </a:p>
        </p:txBody>
      </p:sp>
      <p:sp>
        <p:nvSpPr>
          <p:cNvPr id="23" name="Shape 21"/>
          <p:cNvSpPr/>
          <p:nvPr/>
        </p:nvSpPr>
        <p:spPr>
          <a:xfrm>
            <a:off x="5974080" y="4114800"/>
            <a:ext cx="2667000" cy="384048"/>
          </a:xfrm>
          <a:prstGeom prst="roundRect">
            <a:avLst>
              <a:gd name="adj" fmla="val 16667"/>
            </a:avLst>
          </a:prstGeom>
          <a:solidFill>
            <a:srgbClr val="0D2B3E"/>
          </a:solidFill>
          <a:ln w="12700">
            <a:solidFill>
              <a:srgbClr val="0D7B8A"/>
            </a:solidFill>
            <a:prstDash val="solid"/>
          </a:ln>
        </p:spPr>
      </p:sp>
      <p:sp>
        <p:nvSpPr>
          <p:cNvPr id="24" name="Text 22"/>
          <p:cNvSpPr/>
          <p:nvPr/>
        </p:nvSpPr>
        <p:spPr>
          <a:xfrm>
            <a:off x="5974080" y="4114800"/>
            <a:ext cx="2667000" cy="384048"/>
          </a:xfrm>
          <a:prstGeom prst="rect">
            <a:avLst/>
          </a:prstGeom>
          <a:noFill/>
          <a:ln/>
        </p:spPr>
        <p:txBody>
          <a:bodyPr wrap="square" lIns="0" tIns="0" rIns="0" bIns="0" rtlCol="0" anchor="ctr"/>
          <a:lstStyle/>
          <a:p>
            <a:pPr marL="0" indent="0" algn="ctr">
              <a:buNone/>
            </a:pPr>
            <a:r>
              <a:rPr lang="en-US" sz="1000" dirty="0">
                <a:solidFill>
                  <a:srgbClr val="C8E8EC"/>
                </a:solidFill>
                <a:latin typeface="Calibri" pitchFamily="34" charset="0"/>
                <a:ea typeface="Calibri" pitchFamily="34" charset="-122"/>
                <a:cs typeface="Calibri" pitchFamily="34" charset="-120"/>
              </a:rPr>
              <a:t>package.json — scripts &amp; deps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2B3E"/>
        </a:solidFill>
        <a:effectLst/>
      </p:bgPr>
    </p:bg>
    <p:spTree>
      <p:nvGrpSpPr>
        <p:cNvPr id="1" name=""/>
        <p:cNvGrpSpPr/>
        <p:nvPr/>
      </p:nvGrpSpPr>
      <p:grpSpPr>
        <a:xfrm>
          <a:off x="0" y="0"/>
          <a:ext cx="0" cy="0"/>
          <a:chOff x="0" y="0"/>
          <a:chExt cx="0" cy="0"/>
        </a:xfrm>
      </p:grpSpPr>
      <p:sp>
        <p:nvSpPr>
          <p:cNvPr id="4" name="Text 2"/>
          <p:cNvSpPr/>
          <p:nvPr/>
        </p:nvSpPr>
        <p:spPr>
          <a:xfrm>
            <a:off x="457200" y="274320"/>
            <a:ext cx="8229600" cy="777240"/>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Conclusion &amp; Future Scope</a:t>
            </a:r>
            <a:endParaRPr lang="en-US" sz="3000" dirty="0"/>
          </a:p>
        </p:txBody>
      </p:sp>
      <p:sp>
        <p:nvSpPr>
          <p:cNvPr id="5" name="Shape 3"/>
          <p:cNvSpPr/>
          <p:nvPr/>
        </p:nvSpPr>
        <p:spPr>
          <a:xfrm>
            <a:off x="365760" y="1143000"/>
            <a:ext cx="8412480" cy="1143000"/>
          </a:xfrm>
          <a:prstGeom prst="roundRect">
            <a:avLst>
              <a:gd name="adj" fmla="val 8000"/>
            </a:avLst>
          </a:prstGeom>
          <a:solidFill>
            <a:srgbClr val="0D2B3E"/>
          </a:solidFill>
          <a:ln w="12700">
            <a:solidFill>
              <a:srgbClr val="0D7B8A"/>
            </a:solidFill>
            <a:prstDash val="solid"/>
          </a:ln>
          <a:effectLst>
            <a:outerShdw blurRad="101600" dist="38100" dir="2700000" algn="bl" rotWithShape="0">
              <a:srgbClr val="000000">
                <a:alpha val="12000"/>
              </a:srgbClr>
            </a:outerShdw>
          </a:effectLst>
        </p:spPr>
      </p:sp>
      <p:sp>
        <p:nvSpPr>
          <p:cNvPr id="6" name="Text 4"/>
          <p:cNvSpPr/>
          <p:nvPr/>
        </p:nvSpPr>
        <p:spPr>
          <a:xfrm>
            <a:off x="548640" y="1207008"/>
            <a:ext cx="2743200" cy="274320"/>
          </a:xfrm>
          <a:prstGeom prst="rect">
            <a:avLst/>
          </a:prstGeom>
          <a:noFill/>
          <a:ln/>
        </p:spPr>
        <p:txBody>
          <a:bodyPr wrap="square" rtlCol="0" anchor="ctr"/>
          <a:lstStyle/>
          <a:p>
            <a:pPr marL="0" indent="0">
              <a:buNone/>
            </a:pPr>
            <a:r>
              <a:rPr lang="en-US" sz="1100" b="1" dirty="0">
                <a:solidFill>
                  <a:srgbClr val="16B7C8"/>
                </a:solidFill>
                <a:latin typeface="Calibri" pitchFamily="34" charset="0"/>
                <a:ea typeface="Calibri" pitchFamily="34" charset="-122"/>
                <a:cs typeface="Calibri" pitchFamily="34" charset="-120"/>
              </a:rPr>
              <a:t>What We Built</a:t>
            </a:r>
            <a:endParaRPr lang="en-US" sz="1100" dirty="0"/>
          </a:p>
        </p:txBody>
      </p:sp>
      <p:sp>
        <p:nvSpPr>
          <p:cNvPr id="7" name="Text 5"/>
          <p:cNvSpPr/>
          <p:nvPr/>
        </p:nvSpPr>
        <p:spPr>
          <a:xfrm>
            <a:off x="548640" y="1481328"/>
            <a:ext cx="8046720" cy="685800"/>
          </a:xfrm>
          <a:prstGeom prst="rect">
            <a:avLst/>
          </a:prstGeom>
          <a:noFill/>
          <a:ln/>
        </p:spPr>
        <p:txBody>
          <a:bodyPr wrap="square" rtlCol="0" anchor="ctr"/>
          <a:lstStyle/>
          <a:p>
            <a:pPr marL="0" indent="0">
              <a:buNone/>
            </a:pPr>
            <a:r>
              <a:rPr lang="en-US" sz="1100" dirty="0">
                <a:solidFill>
                  <a:srgbClr val="C8E8EC"/>
                </a:solidFill>
                <a:latin typeface="Calibri" pitchFamily="34" charset="0"/>
                <a:ea typeface="Calibri" pitchFamily="34" charset="-122"/>
                <a:cs typeface="Calibri" pitchFamily="34" charset="-120"/>
              </a:rPr>
              <a:t>We successfully built a complete telemedicine front-end — covering public pages, auth, patient dashboard, doctor interactions, video simulation, PDF prescriptions, and a production-ready build. All six COs were implemented hands-on through this single real-world project.</a:t>
            </a:r>
            <a:endParaRPr lang="en-US" sz="1100" dirty="0"/>
          </a:p>
        </p:txBody>
      </p:sp>
      <p:sp>
        <p:nvSpPr>
          <p:cNvPr id="8" name="Shape 6"/>
          <p:cNvSpPr/>
          <p:nvPr/>
        </p:nvSpPr>
        <p:spPr>
          <a:xfrm>
            <a:off x="365760" y="2450592"/>
            <a:ext cx="2651760" cy="1097280"/>
          </a:xfrm>
          <a:prstGeom prst="roundRect">
            <a:avLst>
              <a:gd name="adj" fmla="val 6667"/>
            </a:avLst>
          </a:prstGeom>
          <a:solidFill>
            <a:srgbClr val="0D2B3E"/>
          </a:solidFill>
          <a:ln w="12700">
            <a:solidFill>
              <a:srgbClr val="0D7B8A"/>
            </a:solidFill>
            <a:prstDash val="solid"/>
          </a:ln>
          <a:effectLst>
            <a:outerShdw blurRad="101600" dist="38100" dir="2700000" algn="bl" rotWithShape="0">
              <a:srgbClr val="000000">
                <a:alpha val="12000"/>
              </a:srgbClr>
            </a:outerShdw>
          </a:effectLst>
        </p:spPr>
      </p:sp>
      <p:sp>
        <p:nvSpPr>
          <p:cNvPr id="9" name="Text 7"/>
          <p:cNvSpPr/>
          <p:nvPr/>
        </p:nvSpPr>
        <p:spPr>
          <a:xfrm>
            <a:off x="457200" y="2542032"/>
            <a:ext cx="2468880" cy="320040"/>
          </a:xfrm>
          <a:prstGeom prst="rect">
            <a:avLst/>
          </a:prstGeom>
          <a:noFill/>
          <a:ln/>
        </p:spPr>
        <p:txBody>
          <a:bodyPr wrap="square" rtlCol="0" anchor="ctr"/>
          <a:lstStyle/>
          <a:p>
            <a:pPr marL="0" indent="0">
              <a:buNone/>
            </a:pPr>
            <a:r>
              <a:rPr lang="en-US" sz="1200" b="1" dirty="0">
                <a:solidFill>
                  <a:srgbClr val="16B7C8"/>
                </a:solidFill>
                <a:latin typeface="Calibri" pitchFamily="34" charset="0"/>
                <a:ea typeface="Calibri" pitchFamily="34" charset="-122"/>
                <a:cs typeface="Calibri" pitchFamily="34" charset="-120"/>
              </a:rPr>
              <a:t>🔗  Backend Integration</a:t>
            </a:r>
            <a:endParaRPr lang="en-US" sz="1200" dirty="0"/>
          </a:p>
        </p:txBody>
      </p:sp>
      <p:sp>
        <p:nvSpPr>
          <p:cNvPr id="10" name="Text 8"/>
          <p:cNvSpPr/>
          <p:nvPr/>
        </p:nvSpPr>
        <p:spPr>
          <a:xfrm>
            <a:off x="457200" y="2880360"/>
            <a:ext cx="2468880" cy="594360"/>
          </a:xfrm>
          <a:prstGeom prst="rect">
            <a:avLst/>
          </a:prstGeom>
          <a:noFill/>
          <a:ln/>
        </p:spPr>
        <p:txBody>
          <a:bodyPr wrap="square" rtlCol="0" anchor="ctr"/>
          <a:lstStyle/>
          <a:p>
            <a:pPr marL="0" indent="0">
              <a:buNone/>
            </a:pPr>
            <a:r>
              <a:rPr lang="en-US" sz="1000" dirty="0">
                <a:solidFill>
                  <a:srgbClr val="C8E8EC"/>
                </a:solidFill>
                <a:latin typeface="Calibri" pitchFamily="34" charset="0"/>
                <a:ea typeface="Calibri" pitchFamily="34" charset="-122"/>
                <a:cs typeface="Calibri" pitchFamily="34" charset="-120"/>
              </a:rPr>
              <a:t>Connect to a real REST/GraphQL API for live data and doctor management</a:t>
            </a:r>
            <a:endParaRPr lang="en-US" sz="1000" dirty="0"/>
          </a:p>
        </p:txBody>
      </p:sp>
      <p:sp>
        <p:nvSpPr>
          <p:cNvPr id="11" name="Shape 9"/>
          <p:cNvSpPr/>
          <p:nvPr/>
        </p:nvSpPr>
        <p:spPr>
          <a:xfrm>
            <a:off x="3218688" y="2450592"/>
            <a:ext cx="2651760" cy="1097280"/>
          </a:xfrm>
          <a:prstGeom prst="roundRect">
            <a:avLst>
              <a:gd name="adj" fmla="val 6667"/>
            </a:avLst>
          </a:prstGeom>
          <a:solidFill>
            <a:srgbClr val="0D2B3E"/>
          </a:solidFill>
          <a:ln w="12700">
            <a:solidFill>
              <a:srgbClr val="0D7B8A"/>
            </a:solidFill>
            <a:prstDash val="solid"/>
          </a:ln>
          <a:effectLst>
            <a:outerShdw blurRad="101600" dist="38100" dir="2700000" algn="bl" rotWithShape="0">
              <a:srgbClr val="000000">
                <a:alpha val="12000"/>
              </a:srgbClr>
            </a:outerShdw>
          </a:effectLst>
        </p:spPr>
      </p:sp>
      <p:sp>
        <p:nvSpPr>
          <p:cNvPr id="12" name="Text 10"/>
          <p:cNvSpPr/>
          <p:nvPr/>
        </p:nvSpPr>
        <p:spPr>
          <a:xfrm>
            <a:off x="3310128" y="2542032"/>
            <a:ext cx="2468880" cy="320040"/>
          </a:xfrm>
          <a:prstGeom prst="rect">
            <a:avLst/>
          </a:prstGeom>
          <a:noFill/>
          <a:ln/>
        </p:spPr>
        <p:txBody>
          <a:bodyPr wrap="square" rtlCol="0" anchor="ctr"/>
          <a:lstStyle/>
          <a:p>
            <a:pPr marL="0" indent="0">
              <a:buNone/>
            </a:pPr>
            <a:r>
              <a:rPr lang="en-US" sz="1200" b="1" dirty="0">
                <a:solidFill>
                  <a:srgbClr val="16B7C8"/>
                </a:solidFill>
                <a:latin typeface="Calibri" pitchFamily="34" charset="0"/>
                <a:ea typeface="Calibri" pitchFamily="34" charset="-122"/>
                <a:cs typeface="Calibri" pitchFamily="34" charset="-120"/>
              </a:rPr>
              <a:t>📱  Mobile Responsive</a:t>
            </a:r>
            <a:endParaRPr lang="en-US" sz="1200" dirty="0"/>
          </a:p>
        </p:txBody>
      </p:sp>
      <p:sp>
        <p:nvSpPr>
          <p:cNvPr id="13" name="Text 11"/>
          <p:cNvSpPr/>
          <p:nvPr/>
        </p:nvSpPr>
        <p:spPr>
          <a:xfrm>
            <a:off x="3310128" y="2880360"/>
            <a:ext cx="2468880" cy="594360"/>
          </a:xfrm>
          <a:prstGeom prst="rect">
            <a:avLst/>
          </a:prstGeom>
          <a:noFill/>
          <a:ln/>
        </p:spPr>
        <p:txBody>
          <a:bodyPr wrap="square" rtlCol="0" anchor="ctr"/>
          <a:lstStyle/>
          <a:p>
            <a:pPr marL="0" indent="0">
              <a:buNone/>
            </a:pPr>
            <a:r>
              <a:rPr lang="en-US" sz="1000" dirty="0">
                <a:solidFill>
                  <a:srgbClr val="C8E8EC"/>
                </a:solidFill>
                <a:latin typeface="Calibri" pitchFamily="34" charset="0"/>
                <a:ea typeface="Calibri" pitchFamily="34" charset="-122"/>
                <a:cs typeface="Calibri" pitchFamily="34" charset="-120"/>
              </a:rPr>
              <a:t>Improve touch UX and PWA support for mobile-first patient access</a:t>
            </a:r>
            <a:endParaRPr lang="en-US" sz="1000" dirty="0"/>
          </a:p>
        </p:txBody>
      </p:sp>
      <p:sp>
        <p:nvSpPr>
          <p:cNvPr id="14" name="Shape 12"/>
          <p:cNvSpPr/>
          <p:nvPr/>
        </p:nvSpPr>
        <p:spPr>
          <a:xfrm>
            <a:off x="6071616" y="2450592"/>
            <a:ext cx="2651760" cy="1097280"/>
          </a:xfrm>
          <a:prstGeom prst="roundRect">
            <a:avLst>
              <a:gd name="adj" fmla="val 6667"/>
            </a:avLst>
          </a:prstGeom>
          <a:solidFill>
            <a:srgbClr val="0D2B3E"/>
          </a:solidFill>
          <a:ln w="12700">
            <a:solidFill>
              <a:srgbClr val="0D7B8A"/>
            </a:solidFill>
            <a:prstDash val="solid"/>
          </a:ln>
          <a:effectLst>
            <a:outerShdw blurRad="101600" dist="38100" dir="2700000" algn="bl" rotWithShape="0">
              <a:srgbClr val="000000">
                <a:alpha val="12000"/>
              </a:srgbClr>
            </a:outerShdw>
          </a:effectLst>
        </p:spPr>
      </p:sp>
      <p:sp>
        <p:nvSpPr>
          <p:cNvPr id="15" name="Text 13"/>
          <p:cNvSpPr/>
          <p:nvPr/>
        </p:nvSpPr>
        <p:spPr>
          <a:xfrm>
            <a:off x="6163056" y="2542032"/>
            <a:ext cx="2468880" cy="320040"/>
          </a:xfrm>
          <a:prstGeom prst="rect">
            <a:avLst/>
          </a:prstGeom>
          <a:noFill/>
          <a:ln/>
        </p:spPr>
        <p:txBody>
          <a:bodyPr wrap="square" rtlCol="0" anchor="ctr"/>
          <a:lstStyle/>
          <a:p>
            <a:pPr marL="0" indent="0">
              <a:buNone/>
            </a:pPr>
            <a:r>
              <a:rPr lang="en-US" sz="1200" b="1" dirty="0">
                <a:solidFill>
                  <a:srgbClr val="16B7C8"/>
                </a:solidFill>
                <a:latin typeface="Calibri" pitchFamily="34" charset="0"/>
                <a:ea typeface="Calibri" pitchFamily="34" charset="-122"/>
                <a:cs typeface="Calibri" pitchFamily="34" charset="-120"/>
              </a:rPr>
              <a:t>🎥  Real Video</a:t>
            </a:r>
            <a:endParaRPr lang="en-US" sz="1200" dirty="0"/>
          </a:p>
        </p:txBody>
      </p:sp>
      <p:sp>
        <p:nvSpPr>
          <p:cNvPr id="16" name="Text 14"/>
          <p:cNvSpPr/>
          <p:nvPr/>
        </p:nvSpPr>
        <p:spPr>
          <a:xfrm>
            <a:off x="6163056" y="2880360"/>
            <a:ext cx="2468880" cy="594360"/>
          </a:xfrm>
          <a:prstGeom prst="rect">
            <a:avLst/>
          </a:prstGeom>
          <a:noFill/>
          <a:ln/>
        </p:spPr>
        <p:txBody>
          <a:bodyPr wrap="square" rtlCol="0" anchor="ctr"/>
          <a:lstStyle/>
          <a:p>
            <a:pPr marL="0" indent="0">
              <a:buNone/>
            </a:pPr>
            <a:r>
              <a:rPr lang="en-US" sz="1000" dirty="0">
                <a:solidFill>
                  <a:srgbClr val="C8E8EC"/>
                </a:solidFill>
                <a:latin typeface="Calibri" pitchFamily="34" charset="0"/>
                <a:ea typeface="Calibri" pitchFamily="34" charset="-122"/>
                <a:cs typeface="Calibri" pitchFamily="34" charset="-120"/>
              </a:rPr>
              <a:t>Integrate WebRTC or Jitsi for actual peer-to-peer video consultations</a:t>
            </a:r>
            <a:endParaRPr lang="en-US" sz="1000" dirty="0"/>
          </a:p>
        </p:txBody>
      </p:sp>
      <p:sp>
        <p:nvSpPr>
          <p:cNvPr id="17" name="Shape 15"/>
          <p:cNvSpPr/>
          <p:nvPr/>
        </p:nvSpPr>
        <p:spPr>
          <a:xfrm>
            <a:off x="365760" y="3685032"/>
            <a:ext cx="2651760" cy="1097280"/>
          </a:xfrm>
          <a:prstGeom prst="roundRect">
            <a:avLst>
              <a:gd name="adj" fmla="val 6667"/>
            </a:avLst>
          </a:prstGeom>
          <a:solidFill>
            <a:srgbClr val="0D2B3E"/>
          </a:solidFill>
          <a:ln w="12700">
            <a:solidFill>
              <a:srgbClr val="0D7B8A"/>
            </a:solidFill>
            <a:prstDash val="solid"/>
          </a:ln>
          <a:effectLst>
            <a:outerShdw blurRad="101600" dist="38100" dir="2700000" algn="bl" rotWithShape="0">
              <a:srgbClr val="000000">
                <a:alpha val="12000"/>
              </a:srgbClr>
            </a:outerShdw>
          </a:effectLst>
        </p:spPr>
      </p:sp>
      <p:sp>
        <p:nvSpPr>
          <p:cNvPr id="18" name="Text 16"/>
          <p:cNvSpPr/>
          <p:nvPr/>
        </p:nvSpPr>
        <p:spPr>
          <a:xfrm>
            <a:off x="457200" y="3776472"/>
            <a:ext cx="2468880" cy="320040"/>
          </a:xfrm>
          <a:prstGeom prst="rect">
            <a:avLst/>
          </a:prstGeom>
          <a:noFill/>
          <a:ln/>
        </p:spPr>
        <p:txBody>
          <a:bodyPr wrap="square" rtlCol="0" anchor="ctr"/>
          <a:lstStyle/>
          <a:p>
            <a:pPr marL="0" indent="0">
              <a:buNone/>
            </a:pPr>
            <a:r>
              <a:rPr lang="en-US" sz="1200" b="1" dirty="0">
                <a:solidFill>
                  <a:srgbClr val="16B7C8"/>
                </a:solidFill>
                <a:latin typeface="Calibri" pitchFamily="34" charset="0"/>
                <a:ea typeface="Calibri" pitchFamily="34" charset="-122"/>
                <a:cs typeface="Calibri" pitchFamily="34" charset="-120"/>
              </a:rPr>
              <a:t>🧪  Full Test Suite</a:t>
            </a:r>
            <a:endParaRPr lang="en-US" sz="1200" dirty="0"/>
          </a:p>
        </p:txBody>
      </p:sp>
      <p:sp>
        <p:nvSpPr>
          <p:cNvPr id="19" name="Text 17"/>
          <p:cNvSpPr/>
          <p:nvPr/>
        </p:nvSpPr>
        <p:spPr>
          <a:xfrm>
            <a:off x="457200" y="4114800"/>
            <a:ext cx="2468880" cy="594360"/>
          </a:xfrm>
          <a:prstGeom prst="rect">
            <a:avLst/>
          </a:prstGeom>
          <a:noFill/>
          <a:ln/>
        </p:spPr>
        <p:txBody>
          <a:bodyPr wrap="square" rtlCol="0" anchor="ctr"/>
          <a:lstStyle/>
          <a:p>
            <a:pPr marL="0" indent="0">
              <a:buNone/>
            </a:pPr>
            <a:r>
              <a:rPr lang="en-US" sz="1000" dirty="0">
                <a:solidFill>
                  <a:srgbClr val="C8E8EC"/>
                </a:solidFill>
                <a:latin typeface="Calibri" pitchFamily="34" charset="0"/>
                <a:ea typeface="Calibri" pitchFamily="34" charset="-122"/>
                <a:cs typeface="Calibri" pitchFamily="34" charset="-120"/>
              </a:rPr>
              <a:t>Add Jest + RTL unit tests and Playwright E2E for CI/CD confidence</a:t>
            </a:r>
            <a:endParaRPr lang="en-US" sz="1000" dirty="0"/>
          </a:p>
        </p:txBody>
      </p:sp>
      <p:sp>
        <p:nvSpPr>
          <p:cNvPr id="20" name="Shape 18"/>
          <p:cNvSpPr/>
          <p:nvPr/>
        </p:nvSpPr>
        <p:spPr>
          <a:xfrm>
            <a:off x="3218688" y="3685032"/>
            <a:ext cx="2651760" cy="1097280"/>
          </a:xfrm>
          <a:prstGeom prst="roundRect">
            <a:avLst>
              <a:gd name="adj" fmla="val 6667"/>
            </a:avLst>
          </a:prstGeom>
          <a:solidFill>
            <a:srgbClr val="0D2B3E"/>
          </a:solidFill>
          <a:ln w="12700">
            <a:solidFill>
              <a:srgbClr val="0D7B8A"/>
            </a:solidFill>
            <a:prstDash val="solid"/>
          </a:ln>
          <a:effectLst>
            <a:outerShdw blurRad="101600" dist="38100" dir="2700000" algn="bl" rotWithShape="0">
              <a:srgbClr val="000000">
                <a:alpha val="12000"/>
              </a:srgbClr>
            </a:outerShdw>
          </a:effectLst>
        </p:spPr>
      </p:sp>
      <p:sp>
        <p:nvSpPr>
          <p:cNvPr id="21" name="Text 19"/>
          <p:cNvSpPr/>
          <p:nvPr/>
        </p:nvSpPr>
        <p:spPr>
          <a:xfrm>
            <a:off x="3310128" y="3776472"/>
            <a:ext cx="2468880" cy="320040"/>
          </a:xfrm>
          <a:prstGeom prst="rect">
            <a:avLst/>
          </a:prstGeom>
          <a:noFill/>
          <a:ln/>
        </p:spPr>
        <p:txBody>
          <a:bodyPr wrap="square" rtlCol="0" anchor="ctr"/>
          <a:lstStyle/>
          <a:p>
            <a:pPr marL="0" indent="0">
              <a:buNone/>
            </a:pPr>
            <a:r>
              <a:rPr lang="en-US" sz="1200" b="1" dirty="0">
                <a:solidFill>
                  <a:srgbClr val="16B7C8"/>
                </a:solidFill>
                <a:latin typeface="Calibri" pitchFamily="34" charset="0"/>
                <a:ea typeface="Calibri" pitchFamily="34" charset="-122"/>
                <a:cs typeface="Calibri" pitchFamily="34" charset="-120"/>
              </a:rPr>
              <a:t>🌐  i18n Support</a:t>
            </a:r>
            <a:endParaRPr lang="en-US" sz="1200" dirty="0"/>
          </a:p>
        </p:txBody>
      </p:sp>
      <p:sp>
        <p:nvSpPr>
          <p:cNvPr id="22" name="Text 20"/>
          <p:cNvSpPr/>
          <p:nvPr/>
        </p:nvSpPr>
        <p:spPr>
          <a:xfrm>
            <a:off x="3310128" y="4114800"/>
            <a:ext cx="2468880" cy="594360"/>
          </a:xfrm>
          <a:prstGeom prst="rect">
            <a:avLst/>
          </a:prstGeom>
          <a:noFill/>
          <a:ln/>
        </p:spPr>
        <p:txBody>
          <a:bodyPr wrap="square" rtlCol="0" anchor="ctr"/>
          <a:lstStyle/>
          <a:p>
            <a:pPr marL="0" indent="0">
              <a:buNone/>
            </a:pPr>
            <a:r>
              <a:rPr lang="en-US" sz="1000" dirty="0">
                <a:solidFill>
                  <a:srgbClr val="C8E8EC"/>
                </a:solidFill>
                <a:latin typeface="Calibri" pitchFamily="34" charset="0"/>
                <a:ea typeface="Calibri" pitchFamily="34" charset="-122"/>
                <a:cs typeface="Calibri" pitchFamily="34" charset="-120"/>
              </a:rPr>
              <a:t>Multi-language support to serve patients across India and beyond</a:t>
            </a:r>
            <a:endParaRPr lang="en-US" sz="1000" dirty="0"/>
          </a:p>
        </p:txBody>
      </p:sp>
      <p:sp>
        <p:nvSpPr>
          <p:cNvPr id="23" name="Shape 21"/>
          <p:cNvSpPr/>
          <p:nvPr/>
        </p:nvSpPr>
        <p:spPr>
          <a:xfrm>
            <a:off x="6071616" y="3685032"/>
            <a:ext cx="2651760" cy="1097280"/>
          </a:xfrm>
          <a:prstGeom prst="roundRect">
            <a:avLst>
              <a:gd name="adj" fmla="val 6667"/>
            </a:avLst>
          </a:prstGeom>
          <a:solidFill>
            <a:srgbClr val="0D2B3E"/>
          </a:solidFill>
          <a:ln w="12700">
            <a:solidFill>
              <a:srgbClr val="0D7B8A"/>
            </a:solidFill>
            <a:prstDash val="solid"/>
          </a:ln>
          <a:effectLst>
            <a:outerShdw blurRad="101600" dist="38100" dir="2700000" algn="bl" rotWithShape="0">
              <a:srgbClr val="000000">
                <a:alpha val="12000"/>
              </a:srgbClr>
            </a:outerShdw>
          </a:effectLst>
        </p:spPr>
      </p:sp>
      <p:sp>
        <p:nvSpPr>
          <p:cNvPr id="24" name="Text 22"/>
          <p:cNvSpPr/>
          <p:nvPr/>
        </p:nvSpPr>
        <p:spPr>
          <a:xfrm>
            <a:off x="6163056" y="3776472"/>
            <a:ext cx="2468880" cy="320040"/>
          </a:xfrm>
          <a:prstGeom prst="rect">
            <a:avLst/>
          </a:prstGeom>
          <a:noFill/>
          <a:ln/>
        </p:spPr>
        <p:txBody>
          <a:bodyPr wrap="square" rtlCol="0" anchor="ctr"/>
          <a:lstStyle/>
          <a:p>
            <a:pPr marL="0" indent="0">
              <a:buNone/>
            </a:pPr>
            <a:r>
              <a:rPr lang="en-US" sz="1200" b="1" dirty="0">
                <a:solidFill>
                  <a:srgbClr val="16B7C8"/>
                </a:solidFill>
                <a:latin typeface="Calibri" pitchFamily="34" charset="0"/>
                <a:ea typeface="Calibri" pitchFamily="34" charset="-122"/>
                <a:cs typeface="Calibri" pitchFamily="34" charset="-120"/>
              </a:rPr>
              <a:t>🚀  Cloud Deploy</a:t>
            </a:r>
            <a:endParaRPr lang="en-US" sz="1200" dirty="0"/>
          </a:p>
        </p:txBody>
      </p:sp>
      <p:sp>
        <p:nvSpPr>
          <p:cNvPr id="25" name="Text 23"/>
          <p:cNvSpPr/>
          <p:nvPr/>
        </p:nvSpPr>
        <p:spPr>
          <a:xfrm>
            <a:off x="6163056" y="4114800"/>
            <a:ext cx="2468880" cy="594360"/>
          </a:xfrm>
          <a:prstGeom prst="rect">
            <a:avLst/>
          </a:prstGeom>
          <a:noFill/>
          <a:ln/>
        </p:spPr>
        <p:txBody>
          <a:bodyPr wrap="square" rtlCol="0" anchor="ctr"/>
          <a:lstStyle/>
          <a:p>
            <a:pPr marL="0" indent="0">
              <a:buNone/>
            </a:pPr>
            <a:r>
              <a:rPr lang="en-US" sz="1000" dirty="0">
                <a:solidFill>
                  <a:srgbClr val="C8E8EC"/>
                </a:solidFill>
                <a:latin typeface="Calibri" pitchFamily="34" charset="0"/>
                <a:ea typeface="Calibri" pitchFamily="34" charset="-122"/>
                <a:cs typeface="Calibri" pitchFamily="34" charset="-120"/>
              </a:rPr>
              <a:t>CI/CD pipeline on GitHub Actions + auto-deploy to Vercel/Netlify</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2B3E"/>
        </a:solidFill>
        <a:effectLst/>
      </p:bgPr>
    </p:bg>
    <p:spTree>
      <p:nvGrpSpPr>
        <p:cNvPr id="1" name="">
          <a:extLst>
            <a:ext uri="{FF2B5EF4-FFF2-40B4-BE49-F238E27FC236}">
              <a16:creationId xmlns:a16="http://schemas.microsoft.com/office/drawing/2014/main" id="{EFD1FA3B-70F4-55F9-44B3-F83788E31A4B}"/>
            </a:ext>
          </a:extLst>
        </p:cNvPr>
        <p:cNvGrpSpPr/>
        <p:nvPr/>
      </p:nvGrpSpPr>
      <p:grpSpPr>
        <a:xfrm>
          <a:off x="0" y="0"/>
          <a:ext cx="0" cy="0"/>
          <a:chOff x="0" y="0"/>
          <a:chExt cx="0" cy="0"/>
        </a:xfrm>
      </p:grpSpPr>
      <p:sp>
        <p:nvSpPr>
          <p:cNvPr id="11" name="Shape 9">
            <a:extLst>
              <a:ext uri="{FF2B5EF4-FFF2-40B4-BE49-F238E27FC236}">
                <a16:creationId xmlns:a16="http://schemas.microsoft.com/office/drawing/2014/main" id="{0DB6205D-13BC-F790-A386-9853F88FF386}"/>
              </a:ext>
            </a:extLst>
          </p:cNvPr>
          <p:cNvSpPr/>
          <p:nvPr/>
        </p:nvSpPr>
        <p:spPr>
          <a:xfrm>
            <a:off x="2282483" y="1459902"/>
            <a:ext cx="4768948" cy="1951189"/>
          </a:xfrm>
          <a:prstGeom prst="roundRect">
            <a:avLst>
              <a:gd name="adj" fmla="val 6667"/>
            </a:avLst>
          </a:prstGeom>
          <a:solidFill>
            <a:srgbClr val="0D2B3E"/>
          </a:solidFill>
          <a:ln w="12700">
            <a:solidFill>
              <a:srgbClr val="0D7B8A"/>
            </a:solidFill>
            <a:prstDash val="solid"/>
          </a:ln>
          <a:effectLst>
            <a:outerShdw blurRad="101600" dist="38100" dir="2700000" algn="bl" rotWithShape="0">
              <a:srgbClr val="000000">
                <a:alpha val="12000"/>
              </a:srgbClr>
            </a:outerShdw>
          </a:effectLst>
        </p:spPr>
        <p:txBody>
          <a:bodyPr/>
          <a:lstStyle/>
          <a:p>
            <a:pPr algn="ctr"/>
            <a:endParaRPr lang="en-IN" dirty="0"/>
          </a:p>
        </p:txBody>
      </p:sp>
      <p:sp>
        <p:nvSpPr>
          <p:cNvPr id="2" name="TextBox 1">
            <a:extLst>
              <a:ext uri="{FF2B5EF4-FFF2-40B4-BE49-F238E27FC236}">
                <a16:creationId xmlns:a16="http://schemas.microsoft.com/office/drawing/2014/main" id="{BA2DB14D-55C2-C7EC-9B52-3816EA6A6CF1}"/>
              </a:ext>
            </a:extLst>
          </p:cNvPr>
          <p:cNvSpPr txBox="1"/>
          <p:nvPr/>
        </p:nvSpPr>
        <p:spPr>
          <a:xfrm>
            <a:off x="3270738" y="2134545"/>
            <a:ext cx="2792437" cy="584775"/>
          </a:xfrm>
          <a:prstGeom prst="rect">
            <a:avLst/>
          </a:prstGeom>
          <a:noFill/>
        </p:spPr>
        <p:txBody>
          <a:bodyPr wrap="square" rtlCol="0">
            <a:spAutoFit/>
          </a:bodyPr>
          <a:lstStyle/>
          <a:p>
            <a:pPr algn="ctr"/>
            <a:r>
              <a:rPr lang="en-US" sz="3200" dirty="0">
                <a:solidFill>
                  <a:schemeClr val="bg1"/>
                </a:solidFill>
                <a:latin typeface="Algerian" panose="04020705040A02060702" pitchFamily="82" charset="0"/>
              </a:rPr>
              <a:t>THANK YOU </a:t>
            </a:r>
            <a:endParaRPr lang="en-IN" sz="3200" dirty="0">
              <a:solidFill>
                <a:schemeClr val="bg1"/>
              </a:solidFill>
              <a:latin typeface="Algerian" panose="04020705040A02060702" pitchFamily="82" charset="0"/>
            </a:endParaRPr>
          </a:p>
        </p:txBody>
      </p:sp>
    </p:spTree>
    <p:extLst>
      <p:ext uri="{BB962C8B-B14F-4D97-AF65-F5344CB8AC3E}">
        <p14:creationId xmlns:p14="http://schemas.microsoft.com/office/powerpoint/2010/main" val="42023986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1418</Words>
  <Application>Microsoft Office PowerPoint</Application>
  <PresentationFormat>On-screen Show (16:9)</PresentationFormat>
  <Paragraphs>160</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Algerian</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TeleMed UI - Front-End Engineering Project</dc:title>
  <dc:subject>PptxGenJS Presentation</dc:subject>
  <dc:creator>PptxGenJS</dc:creator>
  <cp:lastModifiedBy>srujana bandaru</cp:lastModifiedBy>
  <cp:revision>4</cp:revision>
  <dcterms:created xsi:type="dcterms:W3CDTF">2026-06-19T09:36:03Z</dcterms:created>
  <dcterms:modified xsi:type="dcterms:W3CDTF">2026-06-19T14:30:38Z</dcterms:modified>
</cp:coreProperties>
</file>